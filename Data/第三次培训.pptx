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625" r:id="rId3"/>
    <p:sldId id="634" r:id="rId4"/>
    <p:sldId id="645" r:id="rId5"/>
    <p:sldId id="646" r:id="rId6"/>
    <p:sldId id="647" r:id="rId7"/>
    <p:sldId id="648" r:id="rId8"/>
    <p:sldId id="643" r:id="rId9"/>
    <p:sldId id="649" r:id="rId10"/>
    <p:sldId id="650" r:id="rId11"/>
    <p:sldId id="651" r:id="rId12"/>
    <p:sldId id="303" r:id="rId13"/>
    <p:sldId id="653" r:id="rId14"/>
    <p:sldId id="652" r:id="rId15"/>
    <p:sldId id="640" r:id="rId16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gxin he" initials="hh" lastIdx="1" clrIdx="0"/>
  <p:cmAuthor id="2" name="dengchunhua@hust.edu.cn" initials="d" lastIdx="1" clrIdx="1"/>
  <p:cmAuthor id="3" name="zhangh" initials="z" lastIdx="0" clrIdx="2"/>
  <p:cmAuthor id="4" name="rory" initials="r" lastIdx="1" clrIdx="3">
    <p:extLst>
      <p:ext uri="{19B8F6BF-5375-455C-9EA6-DF929625EA0E}">
        <p15:presenceInfo xmlns:p15="http://schemas.microsoft.com/office/powerpoint/2012/main" userId="r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548BDC"/>
    <a:srgbClr val="0099FF"/>
    <a:srgbClr val="9933FF"/>
    <a:srgbClr val="315B2F"/>
    <a:srgbClr val="FF0066"/>
    <a:srgbClr val="FF3399"/>
    <a:srgbClr val="66FF33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82473" autoAdjust="0"/>
  </p:normalViewPr>
  <p:slideViewPr>
    <p:cSldViewPr snapToGrid="0">
      <p:cViewPr varScale="1">
        <p:scale>
          <a:sx n="100" d="100"/>
          <a:sy n="100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7EBF0-E8F7-49ED-854D-6EAC1668934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ABE42-4FE0-4666-B7C9-82FA60E3C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709B5-BCA3-4BE5-B10C-186128433F84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B29BC-EAC3-4B58-83D7-867CA2B6A3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945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280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8223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0642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557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3395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85340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2256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0182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BA1D79-7979-46F2-8C37-BE2E73DC21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8940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776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02021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11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56247"/>
            <a:ext cx="12192000" cy="12361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04974"/>
            <a:ext cx="12192000" cy="7308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7" descr="148550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909"/>
            <a:ext cx="1631491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平行四边形 6"/>
          <p:cNvSpPr/>
          <p:nvPr userDrawn="1"/>
        </p:nvSpPr>
        <p:spPr>
          <a:xfrm>
            <a:off x="2380889" y="737999"/>
            <a:ext cx="9811112" cy="126599"/>
          </a:xfrm>
          <a:prstGeom prst="parallelogram">
            <a:avLst>
              <a:gd name="adj" fmla="val 990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平行四边形 7"/>
          <p:cNvSpPr/>
          <p:nvPr userDrawn="1"/>
        </p:nvSpPr>
        <p:spPr>
          <a:xfrm>
            <a:off x="1675972" y="738000"/>
            <a:ext cx="720000" cy="90000"/>
          </a:xfrm>
          <a:prstGeom prst="parallelogram">
            <a:avLst>
              <a:gd name="adj" fmla="val 99032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平行四边形 8"/>
          <p:cNvSpPr/>
          <p:nvPr userDrawn="1"/>
        </p:nvSpPr>
        <p:spPr>
          <a:xfrm>
            <a:off x="0" y="738000"/>
            <a:ext cx="1682878" cy="126598"/>
          </a:xfrm>
          <a:prstGeom prst="parallelogram">
            <a:avLst>
              <a:gd name="adj" fmla="val 9903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108001"/>
            <a:ext cx="12192000" cy="68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endParaRPr lang="en-US" altLang="zh-CN" sz="320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36000"/>
            <a:ext cx="12192000" cy="720000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FF79EF1-5E30-48F6-8B3D-467B1E550470}"/>
              </a:ext>
            </a:extLst>
          </p:cNvPr>
          <p:cNvSpPr txBox="1"/>
          <p:nvPr userDrawn="1"/>
        </p:nvSpPr>
        <p:spPr>
          <a:xfrm>
            <a:off x="9493643" y="114252"/>
            <a:ext cx="2614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r>
              <a:rPr lang="zh-CN" altLang="en-US" sz="20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电工基地模电课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2007A10-FD2C-4DD1-AB9B-C98B34268A69}"/>
              </a:ext>
            </a:extLst>
          </p:cNvPr>
          <p:cNvSpPr txBox="1"/>
          <p:nvPr userDrawn="1"/>
        </p:nvSpPr>
        <p:spPr>
          <a:xfrm rot="1807934">
            <a:off x="1837461" y="2665772"/>
            <a:ext cx="85170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cxy-wzh-2022-STI</a:t>
            </a:r>
            <a:endParaRPr lang="zh-CN" altLang="en-US" sz="72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4942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15E12-E1AF-4085-A7A4-DC9946A0F4C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0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openxmlformats.org/officeDocument/2006/relationships/image" Target="../media/image19.png"/><Relationship Id="rId4" Type="http://schemas.openxmlformats.org/officeDocument/2006/relationships/image" Target="../media/image12.emf"/><Relationship Id="rId9" Type="http://schemas.openxmlformats.org/officeDocument/2006/relationships/image" Target="../media/image1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ench.ti.com/filter-design-tool/filter-typ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tools.analog.com/cn/filterwizard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98571" y="1486066"/>
            <a:ext cx="9194858" cy="2948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zh-CN" altLang="en-US" sz="60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测量方向第三次培训</a:t>
            </a:r>
            <a:endParaRPr lang="en-US" altLang="zh-CN" sz="2800">
              <a:solidFill>
                <a:srgbClr val="FF000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2"/>
          <p:cNvSpPr txBox="1">
            <a:spLocks noChangeArrowheads="1"/>
          </p:cNvSpPr>
          <p:nvPr/>
        </p:nvSpPr>
        <p:spPr bwMode="auto">
          <a:xfrm>
            <a:off x="4465320" y="4768109"/>
            <a:ext cx="43891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1pPr>
            <a:lvl2pPr marL="742950" indent="-28575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2pPr>
            <a:lvl3pPr marL="11430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3pPr>
            <a:lvl4pPr marL="16002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4pPr>
            <a:lvl5pPr marL="20574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主讲人：汪源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一、主要内容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AC34FB-7A00-FAB0-B77D-10BD952C2739}"/>
              </a:ext>
            </a:extLst>
          </p:cNvPr>
          <p:cNvSpPr txBox="1"/>
          <p:nvPr/>
        </p:nvSpPr>
        <p:spPr>
          <a:xfrm>
            <a:off x="663522" y="1721422"/>
            <a:ext cx="1016507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1.ADC</a:t>
            </a:r>
            <a:r>
              <a:rPr lang="zh-CN" altLang="en-US" sz="2400"/>
              <a:t>与</a:t>
            </a:r>
            <a:r>
              <a:rPr lang="en-US" altLang="zh-CN" sz="2400"/>
              <a:t>DAC</a:t>
            </a:r>
            <a:r>
              <a:rPr lang="zh-CN" altLang="en-US" sz="2400"/>
              <a:t>简述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2.DMA</a:t>
            </a:r>
            <a:r>
              <a:rPr lang="zh-CN" altLang="en-US" sz="2400"/>
              <a:t>简述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3.</a:t>
            </a:r>
            <a:r>
              <a:rPr lang="zh-CN" altLang="en-US" sz="2400"/>
              <a:t>按键、显示屏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4.</a:t>
            </a:r>
            <a:r>
              <a:rPr lang="zh-CN" altLang="en-US" sz="2400"/>
              <a:t> 滤波器与</a:t>
            </a:r>
            <a:r>
              <a:rPr lang="en-US" altLang="zh-CN" sz="2400"/>
              <a:t>DDS</a:t>
            </a:r>
          </a:p>
          <a:p>
            <a:endParaRPr lang="en-US" altLang="zh-CN" sz="2400"/>
          </a:p>
          <a:p>
            <a:r>
              <a:rPr lang="en-US" altLang="zh-CN" sz="2400"/>
              <a:t>5.</a:t>
            </a:r>
            <a:r>
              <a:rPr lang="zh-CN" altLang="en-US" sz="2400"/>
              <a:t>课后作业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ADC</a:t>
            </a:r>
            <a:r>
              <a:rPr lang="zh-CN" altLang="en-US"/>
              <a:t>与</a:t>
            </a:r>
            <a:r>
              <a:rPr lang="en-US" altLang="zh-CN"/>
              <a:t>DAC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08C923-FEF4-FA57-8776-EC96F5868A98}"/>
              </a:ext>
            </a:extLst>
          </p:cNvPr>
          <p:cNvSpPr txBox="1"/>
          <p:nvPr/>
        </p:nvSpPr>
        <p:spPr>
          <a:xfrm>
            <a:off x="205740" y="1264920"/>
            <a:ext cx="107518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	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与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DAC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是联系模拟系统与数字系统最重要的桥梁，现代电路系统中都要依靠这两者将模拟信号转换为数字信号，将数字信号转换为模拟信号，这也是测量组要学习的最主要，也是最重要的两个外设；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	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测量的内容主要围绕：信号产生，信号采集与信号处理展开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1.ADC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（模数转换器）的种类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	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市面上常见的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主要有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FLASH 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（高速），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SAR 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，</a:t>
            </a: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Sigma-delta ADC</a:t>
            </a:r>
            <a:r>
              <a:rPr lang="zh-CN" altLang="en-US" b="1" i="0">
                <a:solidFill>
                  <a:srgbClr val="191B1F"/>
                </a:solidFill>
                <a:effectLst/>
                <a:latin typeface="-apple-system"/>
              </a:rPr>
              <a:t>（高精度），</a:t>
            </a: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Pipeline 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等，中低速下常用的是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SAR 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，精度与速度较为均衡，一般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MCU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片内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都会选择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SAR ADC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，</a:t>
            </a: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 Sigma-delta ADC</a:t>
            </a:r>
            <a:r>
              <a:rPr lang="zh-CN" altLang="en-US" b="1" i="0">
                <a:solidFill>
                  <a:srgbClr val="191B1F"/>
                </a:solidFill>
                <a:effectLst/>
                <a:latin typeface="-apple-system"/>
              </a:rPr>
              <a:t>常用在低速，超高精度的情况下，一般</a:t>
            </a:r>
            <a:r>
              <a:rPr lang="en-US" altLang="zh-CN" b="1" i="0">
                <a:solidFill>
                  <a:srgbClr val="191B1F"/>
                </a:solidFill>
                <a:effectLst/>
                <a:latin typeface="-apple-system"/>
              </a:rPr>
              <a:t>20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位以上。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68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208C923-FEF4-FA57-8776-EC96F5868A98}"/>
                  </a:ext>
                </a:extLst>
              </p:cNvPr>
              <p:cNvSpPr txBox="1"/>
              <p:nvPr/>
            </p:nvSpPr>
            <p:spPr>
              <a:xfrm>
                <a:off x="225109" y="1041647"/>
                <a:ext cx="10751820" cy="5160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2.ADC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的重要参数（以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SAR ADC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为例）</a:t>
                </a: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marL="742950" lvl="1" indent="-285750">
                  <a:buFontTx/>
                  <a:buChar char="-"/>
                </a:pP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位数（分辨率）：将模拟信号转换为数字信号对应的二进制值，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G4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最大位数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12bit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最小分辨率：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1LSB=VREF/(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solidFill>
                              <a:srgbClr val="191B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 smtClean="0">
                            <a:solidFill>
                              <a:srgbClr val="191B1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zh-CN" altLang="en-US" b="1" i="1">
                            <a:solidFill>
                              <a:srgbClr val="191B1F"/>
                            </a:solidFill>
                            <a:latin typeface="Cambria Math" panose="02040503050406030204" pitchFamily="18" charset="0"/>
                          </a:rPr>
                          <m:t>位数</m:t>
                        </m:r>
                      </m:sup>
                    </m:sSup>
                  </m:oMath>
                </a14:m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)</a:t>
                </a:r>
              </a:p>
              <a:p>
                <a:pPr marL="742950" lvl="1" indent="-285750">
                  <a:buFontTx/>
                  <a:buChar char="-"/>
                </a:pP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有效位数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ENOB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：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ADC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本身会有积分误差、非线性误差等，所以采集到的数据并不是全都有效的，如果将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ADC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接到一个恒定电压，采到的数字最后几位可能一直在跳变，那几位就是无效位数，衡量一个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ADC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的精度要看其有效位数，不能只看分辨率；下图是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G4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的有效位数</a:t>
                </a: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marL="742950" lvl="1" indent="-285750">
                  <a:buFontTx/>
                  <a:buChar char="-"/>
                </a:pP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lvl="1"/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lvl="1"/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有些</a:t>
                </a:r>
                <a:r>
                  <a:rPr lang="en-US" altLang="zh-CN" b="1">
                    <a:solidFill>
                      <a:srgbClr val="191B1F"/>
                    </a:solidFill>
                    <a:latin typeface="-apple-system"/>
                  </a:rPr>
                  <a:t>ADC</a:t>
                </a:r>
                <a:r>
                  <a:rPr lang="zh-CN" altLang="en-US" b="1">
                    <a:solidFill>
                      <a:srgbClr val="191B1F"/>
                    </a:solidFill>
                    <a:latin typeface="-apple-system"/>
                  </a:rPr>
                  <a:t>不会直接给出有效位数，但我们可以通过</a:t>
                </a:r>
                <a:r>
                  <a:rPr lang="zh-CN" altLang="en-US" sz="1800">
                    <a:solidFill>
                      <a:srgbClr val="000000"/>
                    </a:solidFill>
                    <a:effectLst/>
                    <a:latin typeface="宋体" panose="02010600030101010101" pitchFamily="2" charset="-122"/>
                    <a:ea typeface="宋体" panose="02010600030101010101" pitchFamily="2" charset="-122"/>
                  </a:rPr>
                  <a:t>信噪比 </a:t>
                </a:r>
                <a:r>
                  <a:rPr lang="en-US" altLang="zh-CN" sz="1800" b="1">
                    <a:solidFill>
                      <a:srgbClr val="000000"/>
                    </a:solidFill>
                    <a:effectLst/>
                    <a:latin typeface="Arial-BoldMT"/>
                  </a:rPr>
                  <a:t>(SNR)</a:t>
                </a:r>
                <a:r>
                  <a:rPr lang="zh-CN" altLang="en-US" sz="1800" b="1">
                    <a:solidFill>
                      <a:srgbClr val="000000"/>
                    </a:solidFill>
                    <a:effectLst/>
                    <a:latin typeface="Arial-BoldMT"/>
                  </a:rPr>
                  <a:t>计算：</a:t>
                </a:r>
                <a:endParaRPr lang="en-US" altLang="zh-CN" b="1">
                  <a:solidFill>
                    <a:srgbClr val="191B1F"/>
                  </a:solidFill>
                  <a:latin typeface="-apple-system"/>
                </a:endParaRPr>
              </a:p>
              <a:p>
                <a:pPr lvl="1"/>
                <a:endParaRPr lang="en-US" altLang="zh-CN">
                  <a:solidFill>
                    <a:srgbClr val="0A0A0A"/>
                  </a:solidFill>
                  <a:latin typeface="Tahoma" panose="020B0604030504040204" pitchFamily="34" charset="0"/>
                </a:endParaRPr>
              </a:p>
              <a:p>
                <a:pPr lvl="1"/>
                <a:endParaRPr lang="en-US" altLang="zh-CN">
                  <a:solidFill>
                    <a:srgbClr val="0A0A0A"/>
                  </a:solidFill>
                  <a:latin typeface="Tahoma" panose="020B0604030504040204" pitchFamily="34" charset="0"/>
                </a:endParaRPr>
              </a:p>
              <a:p>
                <a:pPr lvl="1"/>
                <a:endParaRPr lang="en-US" altLang="zh-CN">
                  <a:solidFill>
                    <a:srgbClr val="0A0A0A"/>
                  </a:solidFill>
                  <a:latin typeface="Tahoma" panose="020B0604030504040204" pitchFamily="34" charset="0"/>
                </a:endParaRPr>
              </a:p>
              <a:p>
                <a:pPr lvl="1"/>
                <a:endParaRPr lang="en-US" altLang="zh-CN">
                  <a:solidFill>
                    <a:srgbClr val="0A0A0A"/>
                  </a:solidFill>
                  <a:latin typeface="Tahoma" panose="020B0604030504040204" pitchFamily="34" charset="0"/>
                </a:endParaRPr>
              </a:p>
              <a:p>
                <a:pPr lvl="1"/>
                <a:endParaRPr lang="en-US" altLang="zh-CN">
                  <a:solidFill>
                    <a:srgbClr val="0A0A0A"/>
                  </a:solidFill>
                  <a:latin typeface="Tahoma" panose="020B0604030504040204" pitchFamily="34" charset="0"/>
                </a:endParaRPr>
              </a:p>
              <a:p>
                <a:pPr lvl="1"/>
                <a:endParaRPr lang="en-US" altLang="zh-CN">
                  <a:solidFill>
                    <a:srgbClr val="0A0A0A"/>
                  </a:solidFill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7208C923-FEF4-FA57-8776-EC96F5868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09" y="1041647"/>
                <a:ext cx="10751820" cy="5160259"/>
              </a:xfrm>
              <a:prstGeom prst="rect">
                <a:avLst/>
              </a:prstGeom>
              <a:blipFill>
                <a:blip r:embed="rId3"/>
                <a:stretch>
                  <a:fillRect t="-10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5D88439-174B-BD20-0DA0-2D48C957A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2834377"/>
            <a:ext cx="8256102" cy="1189245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ADC</a:t>
            </a:r>
            <a:r>
              <a:rPr lang="zh-CN" altLang="en-US"/>
              <a:t>与</a:t>
            </a:r>
            <a:r>
              <a:rPr lang="en-US" altLang="zh-CN"/>
              <a:t>DAC</a:t>
            </a:r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97B8BB1-EB08-17ED-26ED-22E0E59987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591" y="4757070"/>
            <a:ext cx="4572319" cy="1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9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08C923-FEF4-FA57-8776-EC96F5868A98}"/>
              </a:ext>
            </a:extLst>
          </p:cNvPr>
          <p:cNvSpPr txBox="1"/>
          <p:nvPr/>
        </p:nvSpPr>
        <p:spPr>
          <a:xfrm>
            <a:off x="225109" y="1041647"/>
            <a:ext cx="107518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2.ADC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的重要参数（以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SAR 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为例）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marL="742950" lvl="1" indent="-285750">
              <a:buFontTx/>
              <a:buChar char="-"/>
            </a:pPr>
            <a:r>
              <a:rPr lang="zh-CN" altLang="en-US" b="1">
                <a:solidFill>
                  <a:srgbClr val="191B1F"/>
                </a:solidFill>
                <a:latin typeface="-apple-system"/>
              </a:rPr>
              <a:t>参考电压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VREF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：逐次比较就是与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VREF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比较，最大量程即为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VREF</a:t>
            </a:r>
          </a:p>
          <a:p>
            <a:pPr marL="742950" lvl="1" indent="-285750">
              <a:buFontTx/>
              <a:buChar char="-"/>
            </a:pPr>
            <a:r>
              <a:rPr lang="zh-CN" altLang="en-US" b="1">
                <a:solidFill>
                  <a:srgbClr val="191B1F"/>
                </a:solidFill>
                <a:latin typeface="-apple-system"/>
              </a:rPr>
              <a:t>采样率：采集信号的速率，要小于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的最大转换速率，对周期信号，采样率一定要已知且保持恒定，方便后续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FFT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或者滤波，所以我们要求使用定时器去触发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</a:p>
          <a:p>
            <a:pPr marL="742950" lvl="1" indent="-285750">
              <a:buFontTx/>
              <a:buChar char="-"/>
            </a:pPr>
            <a:r>
              <a:rPr lang="zh-CN" altLang="en-US" b="1">
                <a:solidFill>
                  <a:srgbClr val="191B1F"/>
                </a:solidFill>
                <a:latin typeface="-apple-system"/>
              </a:rPr>
              <a:t>最大转换速率：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将模拟信号转换成数字信号所需的最短时间，使用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的采样速率不能大于转换速率，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G4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在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12bit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下最大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4MSPS</a:t>
            </a:r>
          </a:p>
          <a:p>
            <a:pPr marL="742950" lvl="1" indent="-285750">
              <a:buFontTx/>
              <a:buChar char="-"/>
            </a:pPr>
            <a:r>
              <a:rPr lang="zh-CN" altLang="en-US" b="1">
                <a:solidFill>
                  <a:srgbClr val="191B1F"/>
                </a:solidFill>
                <a:latin typeface="-apple-system"/>
              </a:rPr>
              <a:t>采样保持时间：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输入一般会有保持电容，采集信号之前要先给电容充电，之后再比较转换，这个时间叫采样保持时间，越久采集到的信号越稳定，太短可能信号还没稳定就采集会失真，同时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输入极也要有足够的驱动能力给电容充电；下图是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G4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的转换时间和保持时间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ADC</a:t>
            </a:r>
            <a:r>
              <a:rPr lang="zh-CN" altLang="en-US"/>
              <a:t>与</a:t>
            </a:r>
            <a:r>
              <a:rPr lang="en-US" altLang="zh-CN"/>
              <a:t>DAC</a:t>
            </a:r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CAF2CF-F9BF-2B99-DB88-02DBF5561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594" y="3627360"/>
            <a:ext cx="7308850" cy="208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12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08C923-FEF4-FA57-8776-EC96F5868A98}"/>
              </a:ext>
            </a:extLst>
          </p:cNvPr>
          <p:cNvSpPr txBox="1"/>
          <p:nvPr/>
        </p:nvSpPr>
        <p:spPr>
          <a:xfrm>
            <a:off x="225109" y="1041647"/>
            <a:ext cx="10751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3.DAC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的重要参数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marL="742950" lvl="1" indent="-285750">
              <a:buFontTx/>
              <a:buChar char="-"/>
            </a:pPr>
            <a:r>
              <a:rPr lang="zh-CN" altLang="en-US" b="1">
                <a:solidFill>
                  <a:srgbClr val="191B1F"/>
                </a:solidFill>
                <a:latin typeface="-apple-system"/>
              </a:rPr>
              <a:t>分辨率、有效位数、转换速率、参考电压等和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差不多，只是与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过程相反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marL="742950" lvl="1" indent="-285750">
              <a:buFontTx/>
              <a:buChar char="-"/>
            </a:pPr>
            <a:r>
              <a:rPr lang="zh-CN" altLang="en-US" b="1">
                <a:solidFill>
                  <a:srgbClr val="191B1F"/>
                </a:solidFill>
                <a:latin typeface="-apple-system"/>
              </a:rPr>
              <a:t>下图是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G4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上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DAC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的参数；同样使用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DAC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产生周期信号时，要使用定时器做稳定的触发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</a:t>
            </a:r>
            <a:r>
              <a:rPr lang="en-US" altLang="zh-CN"/>
              <a:t>ADC</a:t>
            </a:r>
            <a:r>
              <a:rPr lang="zh-CN" altLang="en-US"/>
              <a:t>与</a:t>
            </a:r>
            <a:r>
              <a:rPr lang="en-US" altLang="zh-CN"/>
              <a:t>DAC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38993A3-59A7-EE2D-3B37-2E937052A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600" y="1899760"/>
            <a:ext cx="7452044" cy="2679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27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08C923-FEF4-FA57-8776-EC96F5868A98}"/>
              </a:ext>
            </a:extLst>
          </p:cNvPr>
          <p:cNvSpPr txBox="1"/>
          <p:nvPr/>
        </p:nvSpPr>
        <p:spPr>
          <a:xfrm>
            <a:off x="225109" y="1041647"/>
            <a:ext cx="107518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	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（直接内存访问）：可以实现内存到外设、外设到内存、内存到内存的数据搬运，我们使用单片机的时候，大多时间都用在读取数据和发送数据，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CPU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做这种大量重复的工作效率会很低，且速度较慢，这里就体现出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的重要性；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	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的存在可以极大发挥外设的性能，同时还能释放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CPU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做其它事，尤其是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配合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ADC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与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DAC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这样涉及高速、大量数据的外设使用，让我们可以实现更高的采样速率，生成任意波形，而几乎不占用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CPU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，完全靠外设自己完成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主要参数：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1. 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传输方向：内存到外设、外设到内存、内存到内存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2. 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自增地址：外设地址自增，内存地址自增；使用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传输大量数据，数据地址在传输过程中会自动改变，一般是内存地址自增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3. 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传输大小：每次传输一个数据的大小，有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byte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，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half word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和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word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，根据外设与数据类型选择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4. 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传输长度：启动一次</a:t>
            </a:r>
            <a:r>
              <a:rPr lang="en-US" altLang="zh-CN" b="1">
                <a:solidFill>
                  <a:srgbClr val="191B1F"/>
                </a:solidFill>
                <a:latin typeface="-apple-system"/>
              </a:rPr>
              <a:t>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要传输多少个数据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r>
              <a:rPr lang="en-US" altLang="zh-CN" b="1">
                <a:solidFill>
                  <a:srgbClr val="191B1F"/>
                </a:solidFill>
                <a:latin typeface="-apple-system"/>
              </a:rPr>
              <a:t>5. DMA</a:t>
            </a:r>
            <a:r>
              <a:rPr lang="zh-CN" altLang="en-US" b="1">
                <a:solidFill>
                  <a:srgbClr val="191B1F"/>
                </a:solidFill>
                <a:latin typeface="-apple-system"/>
              </a:rPr>
              <a:t>模式：普通和循环模式，需要一直不停的传输就需要循环模式</a:t>
            </a:r>
            <a:endParaRPr lang="en-US" altLang="zh-CN" b="1">
              <a:solidFill>
                <a:srgbClr val="191B1F"/>
              </a:solidFill>
              <a:latin typeface="-apple-system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en-US" altLang="zh-CN"/>
              <a:t>DMA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680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四、按键与显示屏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7CF589-5CD6-15DB-0C73-2F7B826A571C}"/>
              </a:ext>
            </a:extLst>
          </p:cNvPr>
          <p:cNvSpPr txBox="1"/>
          <p:nvPr/>
        </p:nvSpPr>
        <p:spPr>
          <a:xfrm>
            <a:off x="430530" y="1021080"/>
            <a:ext cx="112280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+mn-ea"/>
              </a:rPr>
              <a:t>一般题目的最后一步就是将测量结果显示出来，也就是要有一个清晰的人机交互界面，这里我们推荐使用按键</a:t>
            </a:r>
            <a:r>
              <a:rPr lang="en-US" altLang="zh-CN" sz="2000" b="1">
                <a:latin typeface="+mn-ea"/>
              </a:rPr>
              <a:t>+</a:t>
            </a:r>
            <a:r>
              <a:rPr lang="zh-CN" altLang="en-US" sz="2000" b="1">
                <a:latin typeface="+mn-ea"/>
              </a:rPr>
              <a:t>显示屏的配置，可以切换模式，切换显示等</a:t>
            </a:r>
            <a:endParaRPr lang="en-US" altLang="zh-CN" sz="2000" b="1">
              <a:latin typeface="+mn-ea"/>
            </a:endParaRPr>
          </a:p>
          <a:p>
            <a:pPr marL="457200" indent="-457200">
              <a:buAutoNum type="arabicPeriod"/>
            </a:pPr>
            <a:r>
              <a:rPr lang="zh-CN" altLang="en-US" sz="2000" b="1">
                <a:latin typeface="+mn-ea"/>
              </a:rPr>
              <a:t>微动按键：可以回弹，硬件做好上拉，软件做好滤波，防止误触发即可 </a:t>
            </a:r>
            <a:endParaRPr lang="en-US" altLang="zh-CN" sz="2000" b="1">
              <a:latin typeface="+mn-ea"/>
            </a:endParaRPr>
          </a:p>
          <a:p>
            <a:pPr marL="457200" indent="-457200">
              <a:buAutoNum type="arabicPeriod"/>
            </a:pPr>
            <a:endParaRPr lang="en-US" altLang="zh-CN" sz="2000" b="1">
              <a:latin typeface="+mn-ea"/>
            </a:endParaRPr>
          </a:p>
          <a:p>
            <a:pPr marL="457200" indent="-457200">
              <a:buAutoNum type="arabicPeriod"/>
            </a:pPr>
            <a:r>
              <a:rPr lang="zh-CN" altLang="en-US" sz="2000" b="1">
                <a:latin typeface="+mn-ea"/>
              </a:rPr>
              <a:t>显示屏</a:t>
            </a:r>
            <a:endParaRPr lang="en-US" altLang="zh-CN" sz="2000" b="1">
              <a:latin typeface="+mn-ea"/>
            </a:endParaRPr>
          </a:p>
          <a:p>
            <a:r>
              <a:rPr lang="en-US" altLang="zh-CN" sz="2000" b="1">
                <a:latin typeface="+mn-ea"/>
              </a:rPr>
              <a:t>OLED</a:t>
            </a:r>
            <a:r>
              <a:rPr lang="zh-CN" altLang="en-US" sz="2000" b="1">
                <a:latin typeface="+mn-ea"/>
              </a:rPr>
              <a:t>：单色显示屏，一般使用</a:t>
            </a:r>
            <a:r>
              <a:rPr lang="en-US" altLang="zh-CN" sz="2000" b="1">
                <a:latin typeface="+mn-ea"/>
              </a:rPr>
              <a:t>IIC</a:t>
            </a:r>
            <a:r>
              <a:rPr lang="zh-CN" altLang="en-US" sz="2000" b="1">
                <a:latin typeface="+mn-ea"/>
              </a:rPr>
              <a:t>或</a:t>
            </a:r>
            <a:r>
              <a:rPr lang="en-US" altLang="zh-CN" sz="2000" b="1">
                <a:latin typeface="+mn-ea"/>
              </a:rPr>
              <a:t>SPI</a:t>
            </a:r>
            <a:r>
              <a:rPr lang="zh-CN" altLang="en-US" sz="2000" b="1">
                <a:latin typeface="+mn-ea"/>
              </a:rPr>
              <a:t>驱动，体积小，便宜易驱动</a:t>
            </a:r>
            <a:endParaRPr lang="en-US" altLang="zh-CN" sz="2000" b="1">
              <a:latin typeface="+mn-ea"/>
            </a:endParaRPr>
          </a:p>
          <a:p>
            <a:r>
              <a:rPr lang="en-US" altLang="zh-CN" sz="2000" b="1">
                <a:latin typeface="+mn-ea"/>
              </a:rPr>
              <a:t>TFT</a:t>
            </a:r>
            <a:r>
              <a:rPr lang="zh-CN" altLang="en-US" sz="2000" b="1">
                <a:latin typeface="+mn-ea"/>
              </a:rPr>
              <a:t>或</a:t>
            </a:r>
            <a:r>
              <a:rPr lang="en-US" altLang="zh-CN" sz="2000" b="1">
                <a:latin typeface="+mn-ea"/>
              </a:rPr>
              <a:t>LCD</a:t>
            </a:r>
            <a:r>
              <a:rPr lang="zh-CN" altLang="en-US" sz="2000" b="1">
                <a:latin typeface="+mn-ea"/>
              </a:rPr>
              <a:t>屏幕：彩色屏幕，一般使用</a:t>
            </a:r>
            <a:r>
              <a:rPr lang="en-US" altLang="zh-CN" sz="2000" b="1">
                <a:latin typeface="+mn-ea"/>
              </a:rPr>
              <a:t>SPI</a:t>
            </a:r>
            <a:r>
              <a:rPr lang="zh-CN" altLang="en-US" sz="2000" b="1">
                <a:latin typeface="+mn-ea"/>
              </a:rPr>
              <a:t>或并口驱动，部分型号带</a:t>
            </a:r>
            <a:r>
              <a:rPr lang="en-US" altLang="zh-CN" sz="2000" b="1">
                <a:latin typeface="+mn-ea"/>
              </a:rPr>
              <a:t>IIC</a:t>
            </a:r>
            <a:r>
              <a:rPr lang="zh-CN" altLang="en-US" sz="2000" b="1">
                <a:latin typeface="+mn-ea"/>
              </a:rPr>
              <a:t>触摸功</a:t>
            </a:r>
            <a:endParaRPr lang="en-US" altLang="zh-CN" sz="2000" b="1">
              <a:latin typeface="+mn-ea"/>
            </a:endParaRPr>
          </a:p>
          <a:p>
            <a:r>
              <a:rPr lang="zh-CN" altLang="en-US" sz="2000" b="1">
                <a:latin typeface="+mn-ea"/>
              </a:rPr>
              <a:t>能，分辨率较高，显示效果好，易驱动，成本较高</a:t>
            </a:r>
            <a:endParaRPr lang="en-US" altLang="zh-CN" sz="2000" b="1">
              <a:latin typeface="+mn-ea"/>
            </a:endParaRPr>
          </a:p>
          <a:p>
            <a:r>
              <a:rPr lang="zh-CN" altLang="en-US" sz="2000" b="1">
                <a:latin typeface="+mn-ea"/>
              </a:rPr>
              <a:t>串口屏：这里串口指</a:t>
            </a:r>
            <a:r>
              <a:rPr lang="en-US" altLang="zh-CN" sz="2000" b="1">
                <a:latin typeface="+mn-ea"/>
              </a:rPr>
              <a:t>UART</a:t>
            </a:r>
            <a:r>
              <a:rPr lang="zh-CN" altLang="en-US" sz="2000" b="1">
                <a:latin typeface="+mn-ea"/>
              </a:rPr>
              <a:t>，本质上是个自带</a:t>
            </a:r>
            <a:r>
              <a:rPr lang="en-US" altLang="zh-CN" sz="2000" b="1">
                <a:latin typeface="+mn-ea"/>
              </a:rPr>
              <a:t>MCU</a:t>
            </a:r>
            <a:r>
              <a:rPr lang="zh-CN" altLang="en-US" sz="2000" b="1">
                <a:latin typeface="+mn-ea"/>
              </a:rPr>
              <a:t>的</a:t>
            </a:r>
            <a:r>
              <a:rPr lang="en-US" altLang="zh-CN" sz="2000" b="1">
                <a:latin typeface="+mn-ea"/>
              </a:rPr>
              <a:t>TFT</a:t>
            </a:r>
            <a:r>
              <a:rPr lang="zh-CN" altLang="en-US" sz="2000" b="1">
                <a:latin typeface="+mn-ea"/>
              </a:rPr>
              <a:t>触摸屏，与单片机通过</a:t>
            </a:r>
            <a:endParaRPr lang="en-US" altLang="zh-CN" sz="2000" b="1">
              <a:latin typeface="+mn-ea"/>
            </a:endParaRPr>
          </a:p>
          <a:p>
            <a:r>
              <a:rPr lang="en-US" altLang="zh-CN" sz="2000" b="1">
                <a:latin typeface="+mn-ea"/>
              </a:rPr>
              <a:t>UART</a:t>
            </a:r>
            <a:r>
              <a:rPr lang="zh-CN" altLang="en-US" sz="2000" b="1">
                <a:latin typeface="+mn-ea"/>
              </a:rPr>
              <a:t>通信，需要专门的软件编程显示，既简单又不简单</a:t>
            </a:r>
            <a:endParaRPr lang="en-US" altLang="zh-CN" sz="2000" b="1">
              <a:latin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4BDFCC-AE52-436E-A4C9-21DFC1B67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978" y="1653461"/>
            <a:ext cx="2687492" cy="217697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F2005A-9BFD-8F14-9D11-66FD1A5C9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" y="4456259"/>
            <a:ext cx="2369096" cy="23214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8F5C452-B115-49EC-E76F-DB97A446AD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2286" y="4800772"/>
            <a:ext cx="2921673" cy="197690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42E5C12-3C2B-7591-381C-5838CC0C6E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7620" y="4191179"/>
            <a:ext cx="2574089" cy="250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82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五、滤波器与</a:t>
            </a:r>
            <a:r>
              <a:rPr lang="en-US" altLang="zh-CN"/>
              <a:t>DDS</a:t>
            </a:r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CF31F33-AEA0-3FB2-4C32-01F813AE3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973" y="1069614"/>
            <a:ext cx="9952054" cy="4425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70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五、滤波器与</a:t>
            </a:r>
            <a:r>
              <a:rPr lang="en-US" altLang="zh-CN"/>
              <a:t>DDS</a:t>
            </a:r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A6B392-9BA9-9B2D-27F2-FFBBCAFBAD63}"/>
              </a:ext>
            </a:extLst>
          </p:cNvPr>
          <p:cNvSpPr txBox="1"/>
          <p:nvPr/>
        </p:nvSpPr>
        <p:spPr>
          <a:xfrm>
            <a:off x="213452" y="841704"/>
            <a:ext cx="37866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低通滤波器举例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2DE92F6-9429-FDEF-D308-9C4B61FE17D6}"/>
                  </a:ext>
                </a:extLst>
              </p:cNvPr>
              <p:cNvSpPr txBox="1"/>
              <p:nvPr/>
            </p:nvSpPr>
            <p:spPr>
              <a:xfrm>
                <a:off x="1098167" y="3004510"/>
                <a:ext cx="2064989" cy="6756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𝒔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𝒔𝑹𝑪</m:t>
                          </m:r>
                        </m:den>
                      </m:f>
                    </m:oMath>
                  </m:oMathPara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02DE92F6-9429-FDEF-D308-9C4B61FE1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167" y="3004510"/>
                <a:ext cx="2064989" cy="6756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BBADFD2C-E8EB-2DDA-7F78-839DBEBB5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253" y="1567708"/>
            <a:ext cx="2167872" cy="143135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82E415D-5612-B40C-C28C-608B041A19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167" y="3808369"/>
            <a:ext cx="2065530" cy="2554734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419931F-B624-B30A-F3B4-17B19926EC14}"/>
              </a:ext>
            </a:extLst>
          </p:cNvPr>
          <p:cNvSpPr/>
          <p:nvPr/>
        </p:nvSpPr>
        <p:spPr>
          <a:xfrm>
            <a:off x="485476" y="4222346"/>
            <a:ext cx="6126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Palatino Linotype" charset="0"/>
                <a:ea typeface="Palatino Linotype" charset="0"/>
                <a:cs typeface="Palatino Linotype" charset="0"/>
              </a:rPr>
              <a:t>dB</a:t>
            </a:r>
            <a:endParaRPr lang="zh-CN" alt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6242AD-1711-824C-8869-39C13878631A}"/>
              </a:ext>
            </a:extLst>
          </p:cNvPr>
          <p:cNvSpPr/>
          <p:nvPr/>
        </p:nvSpPr>
        <p:spPr>
          <a:xfrm>
            <a:off x="0" y="5431765"/>
            <a:ext cx="10981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>
                <a:latin typeface="Palatino Linotype" charset="0"/>
              </a:rPr>
              <a:t>degree</a:t>
            </a:r>
            <a:endParaRPr lang="zh-CN" altLang="en-US" sz="2000" b="1" dirty="0">
              <a:latin typeface="Palatino Linotype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BD22121-B172-8DB2-831E-FAC23F7A5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8633" y="3808369"/>
            <a:ext cx="2093933" cy="25547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A7B6622-846F-E9FA-8C8A-C71C1BB0B380}"/>
                  </a:ext>
                </a:extLst>
              </p:cNvPr>
              <p:cNvSpPr txBox="1"/>
              <p:nvPr/>
            </p:nvSpPr>
            <p:spPr>
              <a:xfrm>
                <a:off x="4118906" y="3011639"/>
                <a:ext cx="3327449" cy="714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𝒔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𝒔𝑹𝑪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𝒔𝑹𝑪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A7B6622-846F-E9FA-8C8A-C71C1BB0B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906" y="3011639"/>
                <a:ext cx="3327449" cy="7140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2C884E1C-FEB6-6C1C-45DB-5EC38C38A9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6853" y="1567708"/>
            <a:ext cx="3177493" cy="12548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0B6023A-44E8-3BA5-A07A-680BD0ABDB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5050" y="1605126"/>
            <a:ext cx="3033016" cy="11762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7F2E9A3-07F0-E339-2489-CBBB6C0656D5}"/>
                  </a:ext>
                </a:extLst>
              </p:cNvPr>
              <p:cNvSpPr txBox="1"/>
              <p:nvPr/>
            </p:nvSpPr>
            <p:spPr>
              <a:xfrm>
                <a:off x="7832081" y="3011639"/>
                <a:ext cx="3481338" cy="7140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𝑯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𝒔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f>
                        <m:f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𝒔𝑹𝑪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+</m:t>
                          </m:r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𝒔𝑹𝑪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𝟐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E7F2E9A3-07F0-E339-2489-CBBB6C065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081" y="3011639"/>
                <a:ext cx="3481338" cy="714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图片 14">
            <a:extLst>
              <a:ext uri="{FF2B5EF4-FFF2-40B4-BE49-F238E27FC236}">
                <a16:creationId xmlns:a16="http://schemas.microsoft.com/office/drawing/2014/main" id="{13D40557-B671-20CD-315D-B3DE9D490E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2093" y="3796578"/>
            <a:ext cx="2121313" cy="257831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B04C3A0-9772-FE52-8567-D7EC894F09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4915" y="4559398"/>
            <a:ext cx="1373007" cy="780977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FEFECEB-30FA-78E5-6E92-F746033802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35631" y="4520066"/>
            <a:ext cx="1437945" cy="859640"/>
          </a:xfrm>
          <a:prstGeom prst="rect">
            <a:avLst/>
          </a:prstGeom>
          <a:ln w="285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33149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五、滤波器与</a:t>
            </a:r>
            <a:r>
              <a:rPr lang="en-US" altLang="zh-CN"/>
              <a:t>DDS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C184F5-1E0F-7B5F-9D2B-3E7E91B2096C}"/>
              </a:ext>
            </a:extLst>
          </p:cNvPr>
          <p:cNvSpPr txBox="1"/>
          <p:nvPr/>
        </p:nvSpPr>
        <p:spPr>
          <a:xfrm>
            <a:off x="548640" y="1318260"/>
            <a:ext cx="65074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有源滤波器设计网站</a:t>
            </a:r>
            <a:endParaRPr lang="en-US" altLang="zh-CN"/>
          </a:p>
          <a:p>
            <a:r>
              <a:rPr lang="en-US" altLang="zh-CN"/>
              <a:t>TI</a:t>
            </a:r>
            <a:r>
              <a:rPr lang="zh-CN" altLang="en-US"/>
              <a:t>：</a:t>
            </a:r>
            <a:r>
              <a:rPr lang="en-US" altLang="zh-CN">
                <a:hlinkClick r:id="rId3"/>
              </a:rPr>
              <a:t>Filter Design Tool (ti.com)</a:t>
            </a:r>
            <a:endParaRPr lang="en-US" altLang="zh-CN"/>
          </a:p>
          <a:p>
            <a:r>
              <a:rPr lang="en-US" altLang="zh-CN"/>
              <a:t>ADI</a:t>
            </a:r>
            <a:r>
              <a:rPr lang="zh-CN" altLang="en-US"/>
              <a:t>：</a:t>
            </a:r>
            <a:r>
              <a:rPr lang="zh-CN" altLang="en-US">
                <a:hlinkClick r:id="rId4"/>
              </a:rPr>
              <a:t>滤波器设计工具 </a:t>
            </a:r>
            <a:r>
              <a:rPr lang="en-US" altLang="zh-CN">
                <a:hlinkClick r:id="rId4"/>
              </a:rPr>
              <a:t>| </a:t>
            </a:r>
            <a:r>
              <a:rPr lang="zh-CN" altLang="en-US">
                <a:hlinkClick r:id="rId4"/>
              </a:rPr>
              <a:t>滤波器设计向导 </a:t>
            </a:r>
            <a:r>
              <a:rPr lang="en-US" altLang="zh-CN">
                <a:hlinkClick r:id="rId4"/>
              </a:rPr>
              <a:t>| Analog Devices</a:t>
            </a:r>
            <a:endParaRPr lang="en-US" altLang="zh-CN"/>
          </a:p>
          <a:p>
            <a:r>
              <a:rPr lang="zh-CN" altLang="en-US"/>
              <a:t>无源滤波器：</a:t>
            </a:r>
            <a:endParaRPr lang="en-US" altLang="zh-CN"/>
          </a:p>
          <a:p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LC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无源、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RC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无源使用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Filter Solution</a:t>
            </a:r>
          </a:p>
          <a:p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  <a:p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740972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F55040B-2DE7-4071-9397-2CAE549F3A03}"/>
              </a:ext>
            </a:extLst>
          </p:cNvPr>
          <p:cNvSpPr txBox="1"/>
          <p:nvPr/>
        </p:nvSpPr>
        <p:spPr>
          <a:xfrm>
            <a:off x="503852" y="384504"/>
            <a:ext cx="6904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Direct Digital Synthesis (DDS)</a:t>
            </a:r>
            <a:endParaRPr lang="zh-CN" altLang="en-US" sz="40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50B1C3F-CA5E-409C-8FAE-41EE2DB27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93" y="1282222"/>
            <a:ext cx="6904654" cy="31832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E781AD-9E19-404B-83F4-A0B607310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99" y="3862873"/>
            <a:ext cx="6529374" cy="27972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CAAE878-29EF-46E9-83FA-89373DF3E9A2}"/>
              </a:ext>
            </a:extLst>
          </p:cNvPr>
          <p:cNvSpPr txBox="1"/>
          <p:nvPr/>
        </p:nvSpPr>
        <p:spPr>
          <a:xfrm>
            <a:off x="1420311" y="5057223"/>
            <a:ext cx="3722016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：借助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和高速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DAC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511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五、滤波器与</a:t>
            </a:r>
            <a:r>
              <a:rPr lang="en-US" altLang="zh-CN"/>
              <a:t>DDS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C184F5-1E0F-7B5F-9D2B-3E7E91B2096C}"/>
              </a:ext>
            </a:extLst>
          </p:cNvPr>
          <p:cNvSpPr txBox="1"/>
          <p:nvPr/>
        </p:nvSpPr>
        <p:spPr>
          <a:xfrm>
            <a:off x="251460" y="1379220"/>
            <a:ext cx="65074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4D4D4D"/>
                </a:solidFill>
                <a:latin typeface="-apple-system"/>
              </a:rPr>
              <a:t>常见</a:t>
            </a:r>
            <a:r>
              <a:rPr lang="en-US" altLang="zh-CN" b="1">
                <a:solidFill>
                  <a:srgbClr val="4D4D4D"/>
                </a:solidFill>
                <a:latin typeface="-apple-system"/>
              </a:rPr>
              <a:t>DDS</a:t>
            </a:r>
            <a:r>
              <a:rPr lang="zh-CN" altLang="en-US" b="1">
                <a:solidFill>
                  <a:srgbClr val="4D4D4D"/>
                </a:solidFill>
                <a:latin typeface="-apple-system"/>
              </a:rPr>
              <a:t>芯片</a:t>
            </a:r>
            <a:endParaRPr lang="en-US" altLang="zh-CN" b="1">
              <a:solidFill>
                <a:srgbClr val="4D4D4D"/>
              </a:solidFill>
              <a:latin typeface="-apple-system"/>
            </a:endParaRPr>
          </a:p>
          <a:p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r>
              <a:rPr lang="zh-CN" altLang="en-US">
                <a:solidFill>
                  <a:srgbClr val="4D4D4D"/>
                </a:solidFill>
                <a:latin typeface="-apple-system"/>
              </a:rPr>
              <a:t>我们有淘宝上买的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AD9833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模块，做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19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年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D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题足够了，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r>
              <a:rPr lang="zh-CN" altLang="en-US">
                <a:solidFill>
                  <a:srgbClr val="4D4D4D"/>
                </a:solidFill>
                <a:latin typeface="-apple-system"/>
              </a:rPr>
              <a:t>会下发给你们，高性能的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DDS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比较贵，有兴趣可以自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r>
              <a:rPr lang="zh-CN" altLang="en-US">
                <a:solidFill>
                  <a:srgbClr val="4D4D4D"/>
                </a:solidFill>
                <a:latin typeface="-apple-system"/>
              </a:rPr>
              <a:t>己做或者可接把我发给你们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AD9959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工程打板，这个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r>
              <a:rPr lang="zh-CN" altLang="en-US">
                <a:solidFill>
                  <a:srgbClr val="4D4D4D"/>
                </a:solidFill>
                <a:latin typeface="-apple-system"/>
              </a:rPr>
              <a:t>不做强制要求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  <a:p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251803-CE66-52D5-CF03-51CEDF3DA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8"/>
          <a:stretch/>
        </p:blipFill>
        <p:spPr>
          <a:xfrm>
            <a:off x="5547360" y="1195387"/>
            <a:ext cx="6644640" cy="49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884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六、课后作业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C184F5-1E0F-7B5F-9D2B-3E7E91B2096C}"/>
              </a:ext>
            </a:extLst>
          </p:cNvPr>
          <p:cNvSpPr txBox="1"/>
          <p:nvPr/>
        </p:nvSpPr>
        <p:spPr>
          <a:xfrm>
            <a:off x="548640" y="1318260"/>
            <a:ext cx="88849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程序员：使用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DAC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输出两路正交的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1Khz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正弦波（软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DDS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），幅值任意，利用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ADC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采集两路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DAC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输出信号，利用按键启动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ADC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采集，并使用串口发送到电脑上，利用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VOFA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显示；按键输入改变</a:t>
            </a:r>
            <a:r>
              <a:rPr lang="en-US" altLang="zh-CN" b="0" i="0">
                <a:solidFill>
                  <a:srgbClr val="4D4D4D"/>
                </a:solidFill>
                <a:effectLst/>
                <a:latin typeface="-apple-system"/>
              </a:rPr>
              <a:t>DAC</a:t>
            </a:r>
            <a:r>
              <a:rPr lang="zh-CN" altLang="en-US" b="0" i="0">
                <a:solidFill>
                  <a:srgbClr val="4D4D4D"/>
                </a:solidFill>
                <a:effectLst/>
                <a:latin typeface="-apple-system"/>
              </a:rPr>
              <a:t>输出信号频率（步进值，输出范围任意），并将当前输入频率显示在屏幕上</a:t>
            </a:r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lang="zh-CN" altLang="en-US">
                <a:solidFill>
                  <a:srgbClr val="4D4D4D"/>
                </a:solidFill>
                <a:latin typeface="-apple-system"/>
              </a:rPr>
              <a:t>硬件：尽快将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DCDC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电源板，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LDO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电源板，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G4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核心板焊好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  <a:p>
            <a:endParaRPr lang="en-US" altLang="zh-CN" b="0" i="0">
              <a:solidFill>
                <a:srgbClr val="4D4D4D"/>
              </a:solidFill>
              <a:effectLst/>
              <a:latin typeface="-apple-system"/>
            </a:endParaRPr>
          </a:p>
          <a:p>
            <a:r>
              <a:rPr lang="zh-CN" altLang="en-US">
                <a:solidFill>
                  <a:srgbClr val="4D4D4D"/>
                </a:solidFill>
                <a:latin typeface="-apple-system"/>
              </a:rPr>
              <a:t>下次课内容：给程序员讲解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ARM DSP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库的移植与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FIR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滤波器的使用后，验收之前的内容</a:t>
            </a:r>
            <a:endParaRPr lang="en-US" altLang="zh-CN">
              <a:solidFill>
                <a:srgbClr val="4D4D4D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79461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8CFB3-F4D0-4A82-BA2B-F8939E87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五、学期中的培训计划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902860-3A39-B756-FA0D-252F21146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70759"/>
              </p:ext>
            </p:extLst>
          </p:nvPr>
        </p:nvGraphicFramePr>
        <p:xfrm>
          <a:off x="411480" y="1018964"/>
          <a:ext cx="10679429" cy="5321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928028231"/>
                    </a:ext>
                  </a:extLst>
                </a:gridCol>
                <a:gridCol w="7534656">
                  <a:extLst>
                    <a:ext uri="{9D8B030D-6E8A-4147-A177-3AD203B41FA5}">
                      <a16:colId xmlns:a16="http://schemas.microsoft.com/office/drawing/2014/main" val="4061705334"/>
                    </a:ext>
                  </a:extLst>
                </a:gridCol>
                <a:gridCol w="1590293">
                  <a:extLst>
                    <a:ext uri="{9D8B030D-6E8A-4147-A177-3AD203B41FA5}">
                      <a16:colId xmlns:a16="http://schemas.microsoft.com/office/drawing/2014/main" val="290144776"/>
                    </a:ext>
                  </a:extLst>
                </a:gridCol>
              </a:tblGrid>
              <a:tr h="504542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以</a:t>
                      </a:r>
                      <a:r>
                        <a:rPr lang="en-US" altLang="zh-CN" sz="2000"/>
                        <a:t>2019</a:t>
                      </a:r>
                      <a:r>
                        <a:rPr lang="zh-CN" altLang="en-US" sz="2000"/>
                        <a:t>年</a:t>
                      </a:r>
                      <a:r>
                        <a:rPr lang="en-US" altLang="zh-CN" sz="2000"/>
                        <a:t>D</a:t>
                      </a:r>
                      <a:r>
                        <a:rPr lang="zh-CN" altLang="en-US" sz="2000"/>
                        <a:t>题</a:t>
                      </a:r>
                      <a:r>
                        <a:rPr lang="en-US" altLang="zh-CN" sz="2000"/>
                        <a:t>-</a:t>
                      </a:r>
                      <a:r>
                        <a:rPr lang="zh-CN" altLang="en-US" sz="2000"/>
                        <a:t>简易电路特性测试仪为驱动，学习模块，制作电路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45984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主要内容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主讲人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68271"/>
                  </a:ext>
                </a:extLst>
              </a:tr>
              <a:tr h="644139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Stm32</a:t>
                      </a:r>
                      <a:r>
                        <a:rPr lang="zh-CN" altLang="en-US"/>
                        <a:t>基础，立创</a:t>
                      </a:r>
                      <a:r>
                        <a:rPr lang="en-US" altLang="zh-CN" err="1"/>
                        <a:t>eda</a:t>
                      </a:r>
                      <a:r>
                        <a:rPr lang="zh-CN" altLang="en-US"/>
                        <a:t>基础，相关软件推荐，环境搭建（课后练习，打板）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370706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串口，定时器，电源模块制作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499224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44926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6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ADC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DAC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DMA</a:t>
                      </a:r>
                      <a:r>
                        <a:rPr lang="zh-CN" altLang="en-US"/>
                        <a:t>，滤波器</a:t>
                      </a:r>
                    </a:p>
                    <a:p>
                      <a:pPr algn="ctr"/>
                      <a:r>
                        <a:rPr lang="zh-CN" altLang="en-US"/>
                        <a:t>按键，显示屏，</a:t>
                      </a:r>
                      <a:r>
                        <a:rPr lang="en-US" altLang="zh-CN"/>
                        <a:t>DDS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23525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7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DSP</a:t>
                      </a:r>
                      <a:r>
                        <a:rPr lang="zh-CN" altLang="en-US"/>
                        <a:t>库移植，数字滤波器，验收前期内容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058167"/>
                  </a:ext>
                </a:extLst>
              </a:tr>
              <a:tr h="644139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8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无基础：</a:t>
                      </a:r>
                      <a:r>
                        <a:rPr lang="en-US" altLang="zh-CN"/>
                        <a:t>2019</a:t>
                      </a:r>
                      <a:r>
                        <a:rPr lang="zh-CN" altLang="en-US"/>
                        <a:t>年赛题讲解</a:t>
                      </a:r>
                      <a:endParaRPr lang="en-US" altLang="zh-CN"/>
                    </a:p>
                    <a:p>
                      <a:pPr algn="ctr"/>
                      <a:r>
                        <a:rPr lang="zh-CN" altLang="en-US"/>
                        <a:t>有基础：</a:t>
                      </a:r>
                      <a:r>
                        <a:rPr lang="en-US" altLang="zh-CN"/>
                        <a:t>LCR</a:t>
                      </a:r>
                      <a:r>
                        <a:rPr lang="zh-CN" altLang="en-US"/>
                        <a:t>表制作讲解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597980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9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做题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06718"/>
                  </a:ext>
                </a:extLst>
              </a:tr>
              <a:tr h="1960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24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3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1790</TotalTime>
  <Words>1366</Words>
  <Application>Microsoft Office PowerPoint</Application>
  <PresentationFormat>宽屏</PresentationFormat>
  <Paragraphs>137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-apple-system</vt:lpstr>
      <vt:lpstr>Arial-BoldMT</vt:lpstr>
      <vt:lpstr>等线</vt:lpstr>
      <vt:lpstr>仿宋</vt:lpstr>
      <vt:lpstr>宋体</vt:lpstr>
      <vt:lpstr>微软雅黑</vt:lpstr>
      <vt:lpstr>Arial</vt:lpstr>
      <vt:lpstr>Calibri</vt:lpstr>
      <vt:lpstr>Calibri Light</vt:lpstr>
      <vt:lpstr>Cambria Math</vt:lpstr>
      <vt:lpstr>Palatino Linotype</vt:lpstr>
      <vt:lpstr>Tahoma</vt:lpstr>
      <vt:lpstr>Times New Roman</vt:lpstr>
      <vt:lpstr>Office 主题</vt:lpstr>
      <vt:lpstr>PowerPoint 演示文稿</vt:lpstr>
      <vt:lpstr>一、主要内容</vt:lpstr>
      <vt:lpstr>二、ADC与DAC</vt:lpstr>
      <vt:lpstr>二、ADC与DAC</vt:lpstr>
      <vt:lpstr>二、ADC与DAC</vt:lpstr>
      <vt:lpstr>二、ADC与DAC</vt:lpstr>
      <vt:lpstr>三、DMA</vt:lpstr>
      <vt:lpstr>四、按键与显示屏</vt:lpstr>
      <vt:lpstr>五、滤波器与DDS</vt:lpstr>
      <vt:lpstr>五、滤波器与DDS</vt:lpstr>
      <vt:lpstr>五、滤波器与DDS</vt:lpstr>
      <vt:lpstr>PowerPoint 演示文稿</vt:lpstr>
      <vt:lpstr>五、滤波器与DDS</vt:lpstr>
      <vt:lpstr>六、课后作业</vt:lpstr>
      <vt:lpstr>五、学期中的培训计划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dengchunhua@hust.edu.cn</dc:creator>
  <cp:lastModifiedBy>mikoto misaka</cp:lastModifiedBy>
  <cp:revision>2315</cp:revision>
  <cp:lastPrinted>2021-11-17T07:39:00Z</cp:lastPrinted>
  <dcterms:created xsi:type="dcterms:W3CDTF">2017-01-03T09:21:00Z</dcterms:created>
  <dcterms:modified xsi:type="dcterms:W3CDTF">2024-10-08T13:16:16Z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2052-11.8.6.8556</vt:lpwstr>
  </property>
</Properties>
</file>