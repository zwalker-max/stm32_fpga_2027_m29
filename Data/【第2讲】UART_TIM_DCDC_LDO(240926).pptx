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handoutMasterIdLst>
    <p:handoutMasterId r:id="rId11"/>
  </p:handoutMasterIdLst>
  <p:sldIdLst>
    <p:sldId id="256" r:id="rId2"/>
    <p:sldId id="625" r:id="rId3"/>
    <p:sldId id="634" r:id="rId4"/>
    <p:sldId id="644" r:id="rId5"/>
    <p:sldId id="641" r:id="rId6"/>
    <p:sldId id="642" r:id="rId7"/>
    <p:sldId id="643" r:id="rId8"/>
    <p:sldId id="640" r:id="rId9"/>
  </p:sldIdLst>
  <p:sldSz cx="12192000" cy="6858000"/>
  <p:notesSz cx="6797675" cy="9926638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ngxin he" initials="hh" lastIdx="1" clrIdx="0"/>
  <p:cmAuthor id="2" name="dengchunhua@hust.edu.cn" initials="d" lastIdx="1" clrIdx="1"/>
  <p:cmAuthor id="3" name="zhangh" initials="z" lastIdx="0" clrIdx="2"/>
  <p:cmAuthor id="4" name="rory" initials="r" lastIdx="1" clrIdx="3">
    <p:extLst>
      <p:ext uri="{19B8F6BF-5375-455C-9EA6-DF929625EA0E}">
        <p15:presenceInfo xmlns:p15="http://schemas.microsoft.com/office/powerpoint/2012/main" userId="rory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9BD5"/>
    <a:srgbClr val="548BDC"/>
    <a:srgbClr val="0099FF"/>
    <a:srgbClr val="9933FF"/>
    <a:srgbClr val="315B2F"/>
    <a:srgbClr val="FF0066"/>
    <a:srgbClr val="FF3399"/>
    <a:srgbClr val="66FF33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52" autoAdjust="0"/>
    <p:restoredTop sz="82473" autoAdjust="0"/>
  </p:normalViewPr>
  <p:slideViewPr>
    <p:cSldViewPr snapToGrid="0">
      <p:cViewPr varScale="1">
        <p:scale>
          <a:sx n="100" d="100"/>
          <a:sy n="100" d="100"/>
        </p:scale>
        <p:origin x="91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17EBF0-E8F7-49ED-854D-6EAC1668934A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EABE42-4FE0-4666-B7C9-82FA60E3CC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2709B5-BCA3-4BE5-B10C-186128433F84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0B29BC-EAC3-4B58-83D7-867CA2B6A39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22275" y="1241425"/>
            <a:ext cx="5953125" cy="3349625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3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4945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4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418640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5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5456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6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8215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90B29BC-EAC3-4B58-83D7-867CA2B6A39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  <a:t>7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339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0B29BC-EAC3-4B58-83D7-867CA2B6A392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20116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956247"/>
            <a:ext cx="12192000" cy="123615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noFill/>
            </a:endParaRPr>
          </a:p>
        </p:txBody>
      </p:sp>
      <p:cxnSp>
        <p:nvCxnSpPr>
          <p:cNvPr id="8" name="直接连接符 7"/>
          <p:cNvCxnSpPr/>
          <p:nvPr userDrawn="1"/>
        </p:nvCxnSpPr>
        <p:spPr>
          <a:xfrm>
            <a:off x="0" y="904974"/>
            <a:ext cx="12192000" cy="7308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7" descr="148550.gif"/>
          <p:cNvPicPr>
            <a:picLocks noChangeAspect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51909"/>
            <a:ext cx="1631491" cy="79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平行四边形 6"/>
          <p:cNvSpPr/>
          <p:nvPr userDrawn="1"/>
        </p:nvSpPr>
        <p:spPr>
          <a:xfrm>
            <a:off x="2380889" y="737999"/>
            <a:ext cx="9811112" cy="126599"/>
          </a:xfrm>
          <a:prstGeom prst="parallelogram">
            <a:avLst>
              <a:gd name="adj" fmla="val 99032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8" name="平行四边形 7"/>
          <p:cNvSpPr/>
          <p:nvPr userDrawn="1"/>
        </p:nvSpPr>
        <p:spPr>
          <a:xfrm>
            <a:off x="1675972" y="738000"/>
            <a:ext cx="720000" cy="90000"/>
          </a:xfrm>
          <a:prstGeom prst="parallelogram">
            <a:avLst>
              <a:gd name="adj" fmla="val 99032"/>
            </a:avLst>
          </a:prstGeom>
          <a:solidFill>
            <a:srgbClr val="FF99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9" name="平行四边形 8"/>
          <p:cNvSpPr/>
          <p:nvPr userDrawn="1"/>
        </p:nvSpPr>
        <p:spPr>
          <a:xfrm>
            <a:off x="0" y="738000"/>
            <a:ext cx="1682878" cy="126598"/>
          </a:xfrm>
          <a:prstGeom prst="parallelogram">
            <a:avLst>
              <a:gd name="adj" fmla="val 99032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0" name="Rectangle 6"/>
          <p:cNvSpPr>
            <a:spLocks noChangeArrowheads="1"/>
          </p:cNvSpPr>
          <p:nvPr userDrawn="1"/>
        </p:nvSpPr>
        <p:spPr bwMode="auto">
          <a:xfrm>
            <a:off x="0" y="108001"/>
            <a:ext cx="12192000" cy="6845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25000"/>
              </a:lnSpc>
            </a:pPr>
            <a:endParaRPr lang="en-US" altLang="zh-CN" sz="3200">
              <a:solidFill>
                <a:srgbClr val="0070C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/>
          </p:nvPr>
        </p:nvSpPr>
        <p:spPr>
          <a:xfrm>
            <a:off x="0" y="36000"/>
            <a:ext cx="12192000" cy="720000"/>
          </a:xfrm>
        </p:spPr>
        <p:txBody>
          <a:bodyPr>
            <a:noAutofit/>
          </a:bodyPr>
          <a:lstStyle>
            <a:lvl1pPr algn="ctr">
              <a:defRPr sz="2800" b="1">
                <a:solidFill>
                  <a:schemeClr val="tx1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815E12-E1AF-4085-A7A4-DC9946A0F4CC}" type="datetimeFigureOut">
              <a:rPr lang="zh-CN" altLang="en-US" smtClean="0"/>
              <a:t>2024/9/25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F4F6B-D7C1-40C3-9EA3-3C96BC384A8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.embedfire.com/mcu/stm32/f4/hal_general/zh/latest/README.html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github.com/MisakaLoveEcho/Electric-race-microcontroller-training/tree/main/%E6%95%99%E7%A8%8B%E7%AC%94%E8%AE%B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moe.xyz/non-isolated-dc-dc-power-regulator-schematic-design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1498571" y="1486066"/>
            <a:ext cx="9194858" cy="29486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1pPr>
            <a:lvl2pPr marL="742950" indent="-28575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2pPr>
            <a:lvl3pPr marL="11430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3pPr>
            <a:lvl4pPr marL="16002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4pPr>
            <a:lvl5pPr marL="2057400" indent="-228600" eaLnBrk="0" hangingPunct="0"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bg1"/>
                </a:solidFill>
                <a:latin typeface="微软雅黑" panose="020B0503020204020204" pitchFamily="34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135000"/>
              </a:lnSpc>
            </a:pPr>
            <a:r>
              <a:rPr lang="zh-CN" altLang="en-US" sz="6000">
                <a:solidFill>
                  <a:srgbClr val="0070C0"/>
                </a:solidFill>
                <a:effectLst>
                  <a:outerShdw blurRad="25400" dist="25400" dir="2700000" algn="tl">
                    <a:srgbClr val="000000">
                      <a:alpha val="60000"/>
                    </a:srgbClr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测量方向第一次培训</a:t>
            </a:r>
            <a:endParaRPr lang="en-US" altLang="zh-CN" sz="2800">
              <a:solidFill>
                <a:srgbClr val="FF0000"/>
              </a:solidFill>
              <a:effectLst>
                <a:outerShdw blurRad="25400" dist="25400" dir="2700000" algn="tl">
                  <a:srgbClr val="000000">
                    <a:alpha val="60000"/>
                  </a:srgbClr>
                </a:outerShdw>
              </a:effectLst>
              <a:latin typeface="仿宋" panose="02010609060101010101" pitchFamily="49" charset="-122"/>
              <a:ea typeface="仿宋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文本框 12"/>
          <p:cNvSpPr txBox="1">
            <a:spLocks noChangeArrowheads="1"/>
          </p:cNvSpPr>
          <p:nvPr/>
        </p:nvSpPr>
        <p:spPr bwMode="auto">
          <a:xfrm>
            <a:off x="4465320" y="4768109"/>
            <a:ext cx="438912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1pPr>
            <a:lvl2pPr marL="742950" indent="-28575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2pPr>
            <a:lvl3pPr marL="11430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3pPr>
            <a:lvl4pPr marL="16002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4pPr>
            <a:lvl5pPr marL="2057400" indent="-228600"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66FF"/>
                </a:solidFill>
                <a:latin typeface="Arial Unicode MS" panose="020B0604020202020204" pitchFamily="34" charset="-122"/>
              </a:defRPr>
            </a:lvl9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1559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主讲人：汪源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一、主要内容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4EAC34FB-7A00-FAB0-B77D-10BD952C2739}"/>
              </a:ext>
            </a:extLst>
          </p:cNvPr>
          <p:cNvSpPr txBox="1"/>
          <p:nvPr/>
        </p:nvSpPr>
        <p:spPr>
          <a:xfrm>
            <a:off x="586741" y="1630680"/>
            <a:ext cx="1016507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/>
              <a:t>1.</a:t>
            </a:r>
            <a:r>
              <a:rPr lang="zh-CN" altLang="en-US" sz="2400"/>
              <a:t>串口</a:t>
            </a:r>
            <a:r>
              <a:rPr lang="en-US" altLang="zh-CN" sz="2400"/>
              <a:t>UART</a:t>
            </a:r>
            <a:r>
              <a:rPr lang="zh-CN" altLang="en-US" sz="2400"/>
              <a:t>的发送与接收实验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2.</a:t>
            </a:r>
            <a:r>
              <a:rPr lang="zh-CN" altLang="en-US" sz="2400"/>
              <a:t>定时器中断的使用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3.</a:t>
            </a:r>
            <a:r>
              <a:rPr lang="zh-CN" altLang="en-US" sz="2400"/>
              <a:t>电源模块介绍</a:t>
            </a:r>
            <a:endParaRPr lang="en-US" altLang="zh-CN" sz="2400"/>
          </a:p>
          <a:p>
            <a:endParaRPr lang="en-US" altLang="zh-CN" sz="2400"/>
          </a:p>
          <a:p>
            <a:r>
              <a:rPr lang="en-US" altLang="zh-CN" sz="2400"/>
              <a:t>4.</a:t>
            </a:r>
            <a:r>
              <a:rPr lang="zh-CN" altLang="en-US" sz="2400"/>
              <a:t>课后任务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二、串口与定时器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08C923-FEF4-FA57-8776-EC96F5868A98}"/>
              </a:ext>
            </a:extLst>
          </p:cNvPr>
          <p:cNvSpPr txBox="1"/>
          <p:nvPr/>
        </p:nvSpPr>
        <p:spPr>
          <a:xfrm>
            <a:off x="205740" y="1264920"/>
            <a:ext cx="1075182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串口与定时器理论知识自行查阅百度或野火正点原子的相关教程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r>
              <a:rPr lang="zh-CN" altLang="en-US">
                <a:hlinkClick r:id="rId3"/>
              </a:rPr>
              <a:t>关于本项目 </a:t>
            </a:r>
            <a:r>
              <a:rPr lang="en-US" altLang="zh-CN">
                <a:hlinkClick r:id="rId3"/>
              </a:rPr>
              <a:t>— [</a:t>
            </a:r>
            <a:r>
              <a:rPr lang="zh-CN" altLang="en-US">
                <a:hlinkClick r:id="rId3"/>
              </a:rPr>
              <a:t>野火</a:t>
            </a:r>
            <a:r>
              <a:rPr lang="en-US" altLang="zh-CN">
                <a:hlinkClick r:id="rId3"/>
              </a:rPr>
              <a:t>]STM32 HAL</a:t>
            </a:r>
            <a:r>
              <a:rPr lang="zh-CN" altLang="en-US">
                <a:hlinkClick r:id="rId3"/>
              </a:rPr>
              <a:t>库开发实战指南</a:t>
            </a:r>
            <a:r>
              <a:rPr lang="en-US" altLang="zh-CN">
                <a:hlinkClick r:id="rId3"/>
              </a:rPr>
              <a:t>——</a:t>
            </a:r>
            <a:r>
              <a:rPr lang="zh-CN" altLang="en-US">
                <a:hlinkClick r:id="rId3"/>
              </a:rPr>
              <a:t>基于野火</a:t>
            </a:r>
            <a:r>
              <a:rPr lang="en-US" altLang="zh-CN">
                <a:hlinkClick r:id="rId3"/>
              </a:rPr>
              <a:t>F4</a:t>
            </a:r>
            <a:r>
              <a:rPr lang="zh-CN" altLang="en-US">
                <a:hlinkClick r:id="rId3"/>
              </a:rPr>
              <a:t>系列开发板 文档 </a:t>
            </a:r>
            <a:r>
              <a:rPr lang="en-US" altLang="zh-CN">
                <a:hlinkClick r:id="rId3"/>
              </a:rPr>
              <a:t>(embedfire.com)</a:t>
            </a:r>
            <a:endParaRPr lang="en-US" altLang="zh-CN"/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Cubemx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配置教程</a:t>
            </a:r>
            <a:r>
              <a:rPr lang="en-US" altLang="zh-CN">
                <a:hlinkClick r:id="rId4"/>
              </a:rPr>
              <a:t>Electric-race-microcontroller-training/</a:t>
            </a:r>
            <a:r>
              <a:rPr lang="zh-CN" altLang="en-US">
                <a:hlinkClick r:id="rId4"/>
              </a:rPr>
              <a:t>教程笔记 </a:t>
            </a:r>
            <a:r>
              <a:rPr lang="en-US" altLang="zh-CN">
                <a:hlinkClick r:id="rId4"/>
              </a:rPr>
              <a:t>at main · MisakaLoveEcho/Electric-race-microcontroller-training (github.com)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lvl="1"/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7688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zh-CN" altLang="en-US" sz="2800"/>
              <a:t>电源模块介绍</a:t>
            </a:r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208C923-FEF4-FA57-8776-EC96F5868A98}"/>
              </a:ext>
            </a:extLst>
          </p:cNvPr>
          <p:cNvSpPr txBox="1"/>
          <p:nvPr/>
        </p:nvSpPr>
        <p:spPr>
          <a:xfrm>
            <a:off x="205740" y="1264920"/>
            <a:ext cx="1075182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zh-CN" altLang="en-US"/>
              <a:t>常见电源有</a:t>
            </a:r>
            <a:r>
              <a:rPr lang="en-US" altLang="zh-CN"/>
              <a:t>AC-AC</a:t>
            </a:r>
            <a:r>
              <a:rPr lang="zh-CN" altLang="en-US"/>
              <a:t>，</a:t>
            </a:r>
            <a:r>
              <a:rPr lang="en-US" altLang="zh-CN"/>
              <a:t>AC-DC</a:t>
            </a:r>
            <a:r>
              <a:rPr lang="zh-CN" altLang="en-US"/>
              <a:t>，</a:t>
            </a:r>
            <a:r>
              <a:rPr lang="en-US" altLang="zh-CN"/>
              <a:t>DC-AC,DC-DC,</a:t>
            </a:r>
            <a:r>
              <a:rPr lang="zh-CN" altLang="en-US"/>
              <a:t>我们所使用的都是</a:t>
            </a:r>
            <a:r>
              <a:rPr lang="en-US" altLang="zh-CN"/>
              <a:t>DC-DC</a:t>
            </a:r>
            <a:r>
              <a:rPr lang="zh-CN" altLang="en-US"/>
              <a:t>，电源作为测量系统的驱动力，电源的质量会直接影响信号的质量，所以有一个好电源至关重要；</a:t>
            </a:r>
            <a:r>
              <a:rPr lang="en-US" altLang="zh-CN"/>
              <a:t>DCDC</a:t>
            </a:r>
            <a:r>
              <a:rPr lang="zh-CN" altLang="en-US"/>
              <a:t>电源设计的理论知识可以参照这篇王子恒学长写的文章</a:t>
            </a:r>
            <a:r>
              <a:rPr lang="zh-CN" altLang="en-US">
                <a:hlinkClick r:id="rId3"/>
              </a:rPr>
              <a:t>低压非隔离</a:t>
            </a:r>
            <a:r>
              <a:rPr lang="en-US" altLang="zh-CN">
                <a:hlinkClick r:id="rId3"/>
              </a:rPr>
              <a:t>DCDC</a:t>
            </a:r>
            <a:r>
              <a:rPr lang="zh-CN" altLang="en-US">
                <a:hlinkClick r:id="rId3"/>
              </a:rPr>
              <a:t>开关稳压器设计 </a:t>
            </a:r>
            <a:r>
              <a:rPr lang="en-US" altLang="zh-CN">
                <a:hlinkClick r:id="rId3"/>
              </a:rPr>
              <a:t>- Part 1 </a:t>
            </a:r>
            <a:r>
              <a:rPr lang="zh-CN" altLang="en-US">
                <a:hlinkClick r:id="rId3"/>
              </a:rPr>
              <a:t>原理图设计 </a:t>
            </a:r>
            <a:r>
              <a:rPr lang="en-US" altLang="zh-CN">
                <a:hlinkClick r:id="rId3"/>
              </a:rPr>
              <a:t>- Emoe-Studio</a:t>
            </a:r>
            <a:endParaRPr lang="en-US" altLang="zh-CN"/>
          </a:p>
          <a:p>
            <a:pPr marL="342900" indent="-342900">
              <a:buFontTx/>
              <a:buAutoNum type="arabicPeriod"/>
            </a:pPr>
            <a:r>
              <a:rPr lang="zh-CN" altLang="en-US"/>
              <a:t>我们常用的</a:t>
            </a:r>
            <a:r>
              <a:rPr lang="en-US" altLang="zh-CN"/>
              <a:t>DC-DC</a:t>
            </a:r>
            <a:r>
              <a:rPr lang="zh-CN" altLang="en-US"/>
              <a:t>电源又以</a:t>
            </a:r>
            <a:r>
              <a:rPr lang="en-US" altLang="zh-CN"/>
              <a:t>BUCK</a:t>
            </a:r>
            <a:r>
              <a:rPr lang="zh-CN" altLang="en-US"/>
              <a:t>（降压），</a:t>
            </a:r>
            <a:r>
              <a:rPr lang="en-US" altLang="zh-CN"/>
              <a:t>BOOST</a:t>
            </a:r>
            <a:r>
              <a:rPr lang="zh-CN" altLang="en-US"/>
              <a:t>（升压），</a:t>
            </a:r>
            <a:r>
              <a:rPr lang="en-US" altLang="zh-CN"/>
              <a:t>SEPIC</a:t>
            </a:r>
            <a:r>
              <a:rPr lang="zh-CN" altLang="en-US"/>
              <a:t>（升降压），</a:t>
            </a:r>
            <a:r>
              <a:rPr lang="en-US" altLang="zh-CN" b="0" i="0">
                <a:solidFill>
                  <a:srgbClr val="0A0A0A"/>
                </a:solidFill>
                <a:effectLst/>
                <a:latin typeface="Tahoma" panose="020B0604030504040204" pitchFamily="34" charset="0"/>
              </a:rPr>
              <a:t> Ćuk</a:t>
            </a:r>
            <a:r>
              <a:rPr lang="zh-CN" altLang="en-US" b="0" i="0">
                <a:solidFill>
                  <a:srgbClr val="0A0A0A"/>
                </a:solidFill>
                <a:effectLst/>
                <a:latin typeface="Tahoma" panose="020B0604030504040204" pitchFamily="34" charset="0"/>
              </a:rPr>
              <a:t>（负压），</a:t>
            </a:r>
            <a:r>
              <a:rPr lang="en-US" altLang="zh-CN" b="0" i="0">
                <a:solidFill>
                  <a:srgbClr val="0A0A0A"/>
                </a:solidFill>
                <a:effectLst/>
                <a:latin typeface="Tahoma" panose="020B0604030504040204" pitchFamily="34" charset="0"/>
              </a:rPr>
              <a:t>LDO</a:t>
            </a:r>
            <a:r>
              <a:rPr lang="zh-CN" altLang="en-US" b="0" i="0">
                <a:solidFill>
                  <a:srgbClr val="0A0A0A"/>
                </a:solidFill>
                <a:effectLst/>
                <a:latin typeface="Tahoma" panose="020B0604030504040204" pitchFamily="34" charset="0"/>
              </a:rPr>
              <a:t>等，由于我们遇到的信号一般为交流信号，所以在处理时，会使用到正负电源供电的运放，所以我们在制作电源时，主要考虑以下几点</a:t>
            </a:r>
            <a:endParaRPr lang="en-US" altLang="zh-CN" b="0" i="0">
              <a:solidFill>
                <a:srgbClr val="0A0A0A"/>
              </a:solidFill>
              <a:effectLst/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 b="0" i="0">
                <a:solidFill>
                  <a:srgbClr val="0A0A0A"/>
                </a:solidFill>
                <a:effectLst/>
                <a:latin typeface="Tahoma" panose="020B0604030504040204" pitchFamily="34" charset="0"/>
              </a:rPr>
              <a:t>能否使用单电源产生正负电压</a:t>
            </a:r>
            <a:endParaRPr lang="en-US" altLang="zh-CN" b="0" i="0">
              <a:solidFill>
                <a:srgbClr val="0A0A0A"/>
              </a:solidFill>
              <a:effectLst/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输入输出电压是否符合要求</a:t>
            </a:r>
            <a:endParaRPr lang="en-US" altLang="zh-CN" b="0" i="0">
              <a:solidFill>
                <a:srgbClr val="0A0A0A"/>
              </a:solidFill>
              <a:effectLst/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电源输出纹波是否足够小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电源带载能力是否足够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瞬态响应，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psrr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等等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成本因素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800100" lvl="1" indent="-342900">
              <a:buFontTx/>
              <a:buAutoNum type="arabicPeriod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注意：一般</a:t>
            </a: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DCDC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的开关频率是影响其性能的重要因素，开关频率越高，一般会导致以下结果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开关损耗越高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en-US" altLang="zh-CN">
                <a:solidFill>
                  <a:srgbClr val="0A0A0A"/>
                </a:solidFill>
                <a:latin typeface="Tahoma" panose="020B0604030504040204" pitchFamily="34" charset="0"/>
              </a:rPr>
              <a:t>EMI</a:t>
            </a: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越高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成本相对越高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输出纹波越小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瞬态响应越快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r>
              <a:rPr lang="zh-CN" altLang="en-US">
                <a:solidFill>
                  <a:srgbClr val="0A0A0A"/>
                </a:solidFill>
                <a:latin typeface="Tahoma" panose="020B0604030504040204" pitchFamily="34" charset="0"/>
              </a:rPr>
              <a:t>所需电感越小，器件尺寸越小</a:t>
            </a: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  <a:p>
            <a:pPr marL="742950" lvl="1" indent="-285750">
              <a:buFontTx/>
              <a:buChar char="-"/>
            </a:pPr>
            <a:endParaRPr lang="en-US" altLang="zh-CN">
              <a:solidFill>
                <a:srgbClr val="0A0A0A"/>
              </a:solidFill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1133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zh-CN" altLang="en-US" sz="2800"/>
              <a:t>电源模块介绍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7CF589-5CD6-15DB-0C73-2F7B826A571C}"/>
              </a:ext>
            </a:extLst>
          </p:cNvPr>
          <p:cNvSpPr txBox="1"/>
          <p:nvPr/>
        </p:nvSpPr>
        <p:spPr>
          <a:xfrm>
            <a:off x="430530" y="1021080"/>
            <a:ext cx="559689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3. </a:t>
            </a:r>
            <a:r>
              <a:rPr lang="zh-CN" altLang="en-US"/>
              <a:t>这里我们直接使用王子恒学长设计的</a:t>
            </a:r>
            <a:r>
              <a:rPr lang="en-US" altLang="zh-CN"/>
              <a:t>DCDC</a:t>
            </a:r>
            <a:r>
              <a:rPr lang="zh-CN" altLang="en-US"/>
              <a:t>正负电源，不用大家设计，但要具备设计电源的能力，下面是电源模块的主要参数</a:t>
            </a:r>
            <a:endParaRPr lang="en-US" altLang="zh-CN"/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芯片：</a:t>
            </a:r>
            <a:r>
              <a:rPr lang="en-US" altLang="zh-CN" sz="1800">
                <a:solidFill>
                  <a:srgbClr val="000000"/>
                </a:solidFill>
                <a:effectLst/>
                <a:latin typeface="+mn-ea"/>
              </a:rPr>
              <a:t> MP3426</a:t>
            </a:r>
            <a:r>
              <a:rPr lang="zh-CN" altLang="en-US" i="0">
                <a:solidFill>
                  <a:srgbClr val="333333"/>
                </a:solidFill>
                <a:effectLst/>
                <a:latin typeface="+mn-ea"/>
              </a:rPr>
              <a:t>升压变换器，输出</a:t>
            </a:r>
            <a:r>
              <a:rPr lang="en-US" altLang="zh-CN" i="0">
                <a:solidFill>
                  <a:srgbClr val="333333"/>
                </a:solidFill>
                <a:effectLst/>
                <a:latin typeface="+mn-ea"/>
              </a:rPr>
              <a:t>6A</a:t>
            </a:r>
            <a:r>
              <a:rPr lang="zh-CN" altLang="en-US" i="0">
                <a:solidFill>
                  <a:srgbClr val="333333"/>
                </a:solidFill>
                <a:effectLst/>
                <a:latin typeface="+mn-ea"/>
              </a:rPr>
              <a:t>，开关频率可调最大</a:t>
            </a:r>
            <a:r>
              <a:rPr lang="en-US" altLang="zh-CN" i="0">
                <a:solidFill>
                  <a:srgbClr val="333333"/>
                </a:solidFill>
                <a:effectLst/>
                <a:latin typeface="+mn-ea"/>
              </a:rPr>
              <a:t>2Mhz</a:t>
            </a:r>
            <a:r>
              <a:rPr lang="zh-CN" altLang="en-US">
                <a:solidFill>
                  <a:srgbClr val="333333"/>
                </a:solidFill>
                <a:latin typeface="+mn-ea"/>
              </a:rPr>
              <a:t>，输入</a:t>
            </a:r>
            <a:r>
              <a:rPr lang="en-US" altLang="zh-CN">
                <a:solidFill>
                  <a:srgbClr val="333333"/>
                </a:solidFill>
                <a:latin typeface="+mn-ea"/>
              </a:rPr>
              <a:t>3.2V</a:t>
            </a:r>
            <a:r>
              <a:rPr lang="zh-CN" altLang="en-US">
                <a:solidFill>
                  <a:srgbClr val="333333"/>
                </a:solidFill>
                <a:latin typeface="+mn-ea"/>
              </a:rPr>
              <a:t>，输出</a:t>
            </a:r>
            <a:r>
              <a:rPr lang="en-US" altLang="zh-CN">
                <a:solidFill>
                  <a:srgbClr val="333333"/>
                </a:solidFill>
                <a:latin typeface="+mn-ea"/>
              </a:rPr>
              <a:t>35V</a:t>
            </a:r>
          </a:p>
          <a:p>
            <a:pPr marL="285750" indent="-285750">
              <a:buFontTx/>
              <a:buChar char="-"/>
            </a:pPr>
            <a:r>
              <a:rPr lang="zh-CN" altLang="en-US">
                <a:solidFill>
                  <a:srgbClr val="333333"/>
                </a:solidFill>
                <a:latin typeface="+mn-ea"/>
              </a:rPr>
              <a:t>拓扑：</a:t>
            </a:r>
            <a:r>
              <a:rPr lang="en-US" altLang="zh-CN" i="0">
                <a:solidFill>
                  <a:srgbClr val="4E88FC"/>
                </a:solidFill>
                <a:effectLst/>
                <a:latin typeface="+mn-ea"/>
              </a:rPr>
              <a:t> </a:t>
            </a:r>
            <a:r>
              <a:rPr lang="en-US" altLang="zh-CN" i="0">
                <a:effectLst/>
                <a:latin typeface="+mn-ea"/>
              </a:rPr>
              <a:t>SEPIC+Ćuk </a:t>
            </a:r>
            <a:r>
              <a:rPr lang="zh-CN" altLang="en-US" i="0">
                <a:effectLst/>
                <a:latin typeface="+mn-ea"/>
              </a:rPr>
              <a:t>实现正负压的升降压</a:t>
            </a:r>
            <a:endParaRPr lang="en-US" altLang="zh-CN" i="0">
              <a:effectLst/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 i="0">
                <a:effectLst/>
                <a:latin typeface="+mn-ea"/>
              </a:rPr>
              <a:t>输入：任意电压，只要不超过其最大输入电压</a:t>
            </a:r>
            <a:endParaRPr lang="en-US" altLang="zh-CN" i="0">
              <a:effectLst/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输出：反馈电阻可调节，输出正压约等于负压，每路最大</a:t>
            </a:r>
            <a:r>
              <a:rPr lang="en-US" altLang="zh-CN">
                <a:latin typeface="+mn-ea"/>
              </a:rPr>
              <a:t>3A</a:t>
            </a:r>
          </a:p>
          <a:p>
            <a:pPr marL="285750" indent="-285750">
              <a:buFontTx/>
              <a:buChar char="-"/>
            </a:pPr>
            <a:r>
              <a:rPr lang="zh-CN" altLang="en-US" i="0">
                <a:effectLst/>
                <a:latin typeface="+mn-ea"/>
              </a:rPr>
              <a:t>纹波：正负</a:t>
            </a:r>
            <a:r>
              <a:rPr lang="en-US" altLang="zh-CN" i="0">
                <a:effectLst/>
                <a:latin typeface="+mn-ea"/>
              </a:rPr>
              <a:t>10mv</a:t>
            </a:r>
            <a:r>
              <a:rPr lang="zh-CN" altLang="en-US" i="0">
                <a:effectLst/>
                <a:latin typeface="+mn-ea"/>
              </a:rPr>
              <a:t>？</a:t>
            </a:r>
            <a:endParaRPr lang="en-US" altLang="zh-CN" i="0">
              <a:effectLst/>
              <a:latin typeface="+mn-ea"/>
            </a:endParaRPr>
          </a:p>
          <a:p>
            <a:pPr marL="285750" indent="-285750">
              <a:buFontTx/>
              <a:buChar char="-"/>
            </a:pP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特点：</a:t>
            </a:r>
            <a:endParaRPr lang="en-US" altLang="zh-CN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一块芯片直接输出相同的正负压</a:t>
            </a:r>
            <a:endParaRPr lang="en-US" altLang="zh-CN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升降压拓扑，对输入电压没要求</a:t>
            </a:r>
            <a:endParaRPr lang="en-US" altLang="zh-CN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单路</a:t>
            </a:r>
            <a:r>
              <a:rPr lang="en-US" altLang="zh-CN">
                <a:latin typeface="+mn-ea"/>
              </a:rPr>
              <a:t>3A</a:t>
            </a:r>
            <a:r>
              <a:rPr lang="zh-CN" altLang="en-US">
                <a:latin typeface="+mn-ea"/>
              </a:rPr>
              <a:t>，带载能力足够</a:t>
            </a:r>
            <a:endParaRPr lang="en-US" altLang="zh-CN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开关频率较高，可减小纹波</a:t>
            </a:r>
            <a:endParaRPr lang="en-US" altLang="zh-CN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zh-CN" altLang="en-US">
                <a:latin typeface="+mn-ea"/>
              </a:rPr>
              <a:t>一片全新的</a:t>
            </a:r>
            <a:r>
              <a:rPr lang="en-US" altLang="zh-CN">
                <a:latin typeface="+mn-ea"/>
              </a:rPr>
              <a:t>mp3426</a:t>
            </a:r>
            <a:r>
              <a:rPr lang="zh-CN" altLang="en-US">
                <a:latin typeface="+mn-ea"/>
              </a:rPr>
              <a:t>只要</a:t>
            </a:r>
            <a:r>
              <a:rPr lang="en-US" altLang="zh-CN">
                <a:latin typeface="+mn-ea"/>
              </a:rPr>
              <a:t>3.5</a:t>
            </a:r>
            <a:r>
              <a:rPr lang="zh-CN" altLang="en-US">
                <a:latin typeface="+mn-ea"/>
              </a:rPr>
              <a:t>元，性价比极高</a:t>
            </a:r>
            <a:endParaRPr lang="en-US" altLang="zh-CN">
              <a:latin typeface="+mn-ea"/>
            </a:endParaRPr>
          </a:p>
          <a:p>
            <a:pPr marL="285750" indent="-285750">
              <a:buFontTx/>
              <a:buChar char="-"/>
            </a:pPr>
            <a:r>
              <a:rPr lang="en-US" altLang="zh-CN">
                <a:latin typeface="+mn-ea"/>
              </a:rPr>
              <a:t>DFN</a:t>
            </a:r>
            <a:r>
              <a:rPr lang="zh-CN" altLang="en-US">
                <a:latin typeface="+mn-ea"/>
              </a:rPr>
              <a:t>封装，优雅</a:t>
            </a:r>
            <a:endParaRPr lang="en-US" altLang="zh-CN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01A105A2-24FC-A8C2-4771-41EFBF5CAB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021080"/>
            <a:ext cx="5962361" cy="3879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26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三、</a:t>
            </a:r>
            <a:r>
              <a:rPr lang="zh-CN" altLang="en-US" sz="2800"/>
              <a:t>电源模块介绍</a:t>
            </a:r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7CF589-5CD6-15DB-0C73-2F7B826A571C}"/>
              </a:ext>
            </a:extLst>
          </p:cNvPr>
          <p:cNvSpPr txBox="1"/>
          <p:nvPr/>
        </p:nvSpPr>
        <p:spPr>
          <a:xfrm>
            <a:off x="430530" y="1021080"/>
            <a:ext cx="11228070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>
                <a:latin typeface="+mn-ea"/>
              </a:rPr>
              <a:t>4.LDO</a:t>
            </a:r>
            <a:r>
              <a:rPr lang="zh-CN" altLang="en-US" sz="2000" b="1">
                <a:latin typeface="+mn-ea"/>
              </a:rPr>
              <a:t>电源设计</a:t>
            </a:r>
            <a:endParaRPr lang="en-US" altLang="zh-CN" sz="2000" b="1">
              <a:latin typeface="+mn-ea"/>
            </a:endParaRPr>
          </a:p>
          <a:p>
            <a:r>
              <a:rPr lang="zh-CN" altLang="en-US">
                <a:latin typeface="+mn-ea"/>
              </a:rPr>
              <a:t>线性稳压器，依靠压降发热来降低纹波，</a:t>
            </a:r>
            <a:r>
              <a:rPr lang="en-US" altLang="zh-CN">
                <a:latin typeface="+mn-ea"/>
              </a:rPr>
              <a:t>DCDC</a:t>
            </a:r>
            <a:r>
              <a:rPr lang="zh-CN" altLang="en-US">
                <a:latin typeface="+mn-ea"/>
              </a:rPr>
              <a:t>毕竟是开关电源，</a:t>
            </a:r>
            <a:r>
              <a:rPr lang="en-US" altLang="zh-CN">
                <a:latin typeface="+mn-ea"/>
              </a:rPr>
              <a:t>MOS</a:t>
            </a:r>
            <a:r>
              <a:rPr lang="zh-CN" altLang="en-US">
                <a:latin typeface="+mn-ea"/>
              </a:rPr>
              <a:t>的开关输出纹波肯定较大，所以在给运放供电时，会给</a:t>
            </a:r>
            <a:r>
              <a:rPr lang="en-US" altLang="zh-CN">
                <a:latin typeface="+mn-ea"/>
              </a:rPr>
              <a:t>DCDC</a:t>
            </a:r>
            <a:r>
              <a:rPr lang="zh-CN" altLang="en-US">
                <a:latin typeface="+mn-ea"/>
              </a:rPr>
              <a:t>出来的正负压再过一层</a:t>
            </a:r>
            <a:r>
              <a:rPr lang="en-US" altLang="zh-CN">
                <a:latin typeface="+mn-ea"/>
              </a:rPr>
              <a:t>LDO</a:t>
            </a:r>
            <a:r>
              <a:rPr lang="zh-CN" altLang="en-US">
                <a:latin typeface="+mn-ea"/>
              </a:rPr>
              <a:t>，进一步降低纹波，提高电源质量</a:t>
            </a: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优点：输出纹波小</a:t>
            </a: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缺点：发热大，效率低，一般带载能力较差</a:t>
            </a: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推荐组合（正负压）</a:t>
            </a:r>
            <a:endParaRPr lang="en-US" altLang="zh-CN">
              <a:latin typeface="+mn-ea"/>
            </a:endParaRPr>
          </a:p>
          <a:p>
            <a:r>
              <a:rPr lang="en-US" altLang="zh-CN"/>
              <a:t>TPS7A4901+TPS7A3301</a:t>
            </a:r>
            <a:r>
              <a:rPr lang="zh-CN" altLang="en-US"/>
              <a:t>（</a:t>
            </a:r>
            <a:r>
              <a:rPr lang="en-US" altLang="zh-CN"/>
              <a:t>10</a:t>
            </a:r>
            <a:r>
              <a:rPr lang="zh-CN" altLang="en-US"/>
              <a:t>块）</a:t>
            </a:r>
            <a:r>
              <a:rPr lang="en-US" altLang="zh-CN"/>
              <a:t>         </a:t>
            </a:r>
            <a:r>
              <a:rPr lang="zh-CN" altLang="en-US"/>
              <a:t>（</a:t>
            </a:r>
            <a:r>
              <a:rPr lang="en-US" altLang="zh-CN"/>
              <a:t>150mA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SGM2209+SGM2205 (5</a:t>
            </a:r>
            <a:r>
              <a:rPr lang="zh-CN" altLang="en-US"/>
              <a:t>块</a:t>
            </a:r>
            <a:r>
              <a:rPr lang="en-US" altLang="zh-CN"/>
              <a:t>)             </a:t>
            </a:r>
            <a:r>
              <a:rPr lang="zh-CN" altLang="en-US"/>
              <a:t>（</a:t>
            </a:r>
            <a:r>
              <a:rPr lang="en-US" altLang="zh-CN"/>
              <a:t>500mA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TPS7A4701+TPS7A3301</a:t>
            </a:r>
            <a:r>
              <a:rPr lang="zh-CN" altLang="en-US"/>
              <a:t>（</a:t>
            </a:r>
            <a:r>
              <a:rPr lang="en-US" altLang="zh-CN"/>
              <a:t>14</a:t>
            </a:r>
            <a:r>
              <a:rPr lang="zh-CN" altLang="en-US"/>
              <a:t>块）</a:t>
            </a:r>
            <a:r>
              <a:rPr lang="en-US" altLang="zh-CN"/>
              <a:t>         </a:t>
            </a:r>
            <a:r>
              <a:rPr lang="zh-CN" altLang="en-US"/>
              <a:t>（</a:t>
            </a:r>
            <a:r>
              <a:rPr lang="en-US" altLang="zh-CN"/>
              <a:t>1A</a:t>
            </a:r>
            <a:r>
              <a:rPr lang="zh-CN" altLang="en-US"/>
              <a:t>）</a:t>
            </a:r>
            <a:endParaRPr lang="en-US" altLang="zh-CN"/>
          </a:p>
          <a:p>
            <a:r>
              <a:rPr lang="en-US" altLang="zh-CN"/>
              <a:t>LT3045+LT3094</a:t>
            </a:r>
            <a:r>
              <a:rPr lang="zh-CN" altLang="en-US"/>
              <a:t>（</a:t>
            </a:r>
            <a:r>
              <a:rPr lang="en-US" altLang="zh-CN"/>
              <a:t>20+</a:t>
            </a:r>
            <a:r>
              <a:rPr lang="zh-CN" altLang="en-US"/>
              <a:t>），或者直接</a:t>
            </a:r>
            <a:r>
              <a:rPr lang="en-US" altLang="zh-CN"/>
              <a:t>LT3097</a:t>
            </a:r>
            <a:r>
              <a:rPr lang="zh-CN" altLang="en-US"/>
              <a:t>（</a:t>
            </a:r>
            <a:r>
              <a:rPr lang="en-US" altLang="zh-CN"/>
              <a:t>100+</a:t>
            </a:r>
            <a:r>
              <a:rPr lang="zh-CN" altLang="en-US"/>
              <a:t>）（</a:t>
            </a:r>
            <a:r>
              <a:rPr lang="en-US" altLang="zh-CN"/>
              <a:t>500mA</a:t>
            </a:r>
            <a:r>
              <a:rPr lang="zh-CN" altLang="en-US"/>
              <a:t>，高电源抑制低噪声</a:t>
            </a:r>
            <a:endParaRPr lang="en-US" altLang="zh-CN">
              <a:latin typeface="+mn-ea"/>
            </a:endParaRPr>
          </a:p>
          <a:p>
            <a:r>
              <a:rPr lang="zh-CN" altLang="en-US">
                <a:latin typeface="+mn-ea"/>
              </a:rPr>
              <a:t>我使用的是</a:t>
            </a:r>
            <a:r>
              <a:rPr lang="en-US" altLang="zh-CN"/>
              <a:t>SGM2209+SGM2205 </a:t>
            </a:r>
            <a:r>
              <a:rPr lang="zh-CN" altLang="en-US"/>
              <a:t>，国产，最便宜的，带载能力还行，</a:t>
            </a:r>
            <a:r>
              <a:rPr lang="en-US" altLang="zh-CN"/>
              <a:t>PSRR</a:t>
            </a:r>
            <a:r>
              <a:rPr lang="zh-CN" altLang="en-US"/>
              <a:t>和瞬态响应数据上不如其他的，其他的我也没用过，只能说感知不强</a:t>
            </a:r>
            <a:endParaRPr lang="en-US" altLang="zh-CN"/>
          </a:p>
          <a:p>
            <a:endParaRPr lang="en-US" altLang="zh-CN">
              <a:latin typeface="+mn-ea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FC0D503-E3DD-3EF0-2DB0-31C32B76F3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4850" y="4444365"/>
            <a:ext cx="2594610" cy="18992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C3E5DAB1-D420-1CC3-DF3C-B4F1DC8B8DC6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6880" y="4550700"/>
            <a:ext cx="3847709" cy="217789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969763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0F9AD8CC-410E-4AF5-8AF3-2E3DC77DC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四、课后任务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D7CF589-5CD6-15DB-0C73-2F7B826A571C}"/>
              </a:ext>
            </a:extLst>
          </p:cNvPr>
          <p:cNvSpPr txBox="1"/>
          <p:nvPr/>
        </p:nvSpPr>
        <p:spPr>
          <a:xfrm>
            <a:off x="430530" y="1021080"/>
            <a:ext cx="1122807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>
                <a:latin typeface="+mn-ea"/>
              </a:rPr>
              <a:t>程序员：</a:t>
            </a:r>
            <a:endParaRPr lang="en-US" altLang="zh-CN" sz="2000" b="1">
              <a:latin typeface="+mn-ea"/>
            </a:endParaRPr>
          </a:p>
          <a:p>
            <a:r>
              <a:rPr lang="zh-CN" altLang="en-US" sz="2000" b="1">
                <a:latin typeface="+mn-ea"/>
              </a:rPr>
              <a:t>使用串口配合定时器输出一个由</a:t>
            </a:r>
            <a:r>
              <a:rPr lang="en-US" altLang="zh-CN" sz="2000" b="1">
                <a:latin typeface="+mn-ea"/>
              </a:rPr>
              <a:t>10hz</a:t>
            </a:r>
            <a:r>
              <a:rPr lang="zh-CN" altLang="en-US" sz="2000" b="1">
                <a:latin typeface="+mn-ea"/>
              </a:rPr>
              <a:t>初始相位</a:t>
            </a:r>
            <a:r>
              <a:rPr lang="en-US" altLang="zh-CN" sz="2000" b="1">
                <a:latin typeface="+mn-ea"/>
              </a:rPr>
              <a:t>0</a:t>
            </a:r>
            <a:r>
              <a:rPr lang="zh-CN" altLang="en-US" sz="2000" b="1">
                <a:latin typeface="+mn-ea"/>
              </a:rPr>
              <a:t>度的正弦波叠加一个</a:t>
            </a:r>
            <a:r>
              <a:rPr lang="en-US" altLang="zh-CN" sz="2000" b="1">
                <a:latin typeface="+mn-ea"/>
              </a:rPr>
              <a:t>4hz</a:t>
            </a:r>
            <a:r>
              <a:rPr lang="zh-CN" altLang="en-US" sz="2000" b="1">
                <a:latin typeface="+mn-ea"/>
              </a:rPr>
              <a:t>初始相位</a:t>
            </a:r>
            <a:r>
              <a:rPr lang="en-US" altLang="zh-CN" sz="2000" b="1">
                <a:latin typeface="+mn-ea"/>
              </a:rPr>
              <a:t>45</a:t>
            </a:r>
            <a:r>
              <a:rPr lang="zh-CN" altLang="en-US" sz="2000" b="1">
                <a:latin typeface="+mn-ea"/>
              </a:rPr>
              <a:t>度的混合波形，幅度与偏置任意，利用</a:t>
            </a:r>
            <a:r>
              <a:rPr lang="en-US" altLang="zh-CN" sz="2000" b="1">
                <a:latin typeface="+mn-ea"/>
              </a:rPr>
              <a:t>vofa</a:t>
            </a:r>
            <a:r>
              <a:rPr lang="zh-CN" altLang="en-US" sz="2000" b="1">
                <a:latin typeface="+mn-ea"/>
              </a:rPr>
              <a:t>显示出来</a:t>
            </a:r>
            <a:endParaRPr lang="en-US" altLang="zh-CN" sz="2000" b="1">
              <a:latin typeface="+mn-ea"/>
            </a:endParaRPr>
          </a:p>
          <a:p>
            <a:r>
              <a:rPr lang="zh-CN" altLang="en-US">
                <a:latin typeface="+mn-ea"/>
              </a:rPr>
              <a:t>硬件：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1.</a:t>
            </a:r>
            <a:r>
              <a:rPr lang="zh-CN" altLang="en-US">
                <a:latin typeface="+mn-ea"/>
              </a:rPr>
              <a:t>将发给你们的</a:t>
            </a:r>
            <a:r>
              <a:rPr lang="en-US" altLang="zh-CN">
                <a:latin typeface="+mn-ea"/>
              </a:rPr>
              <a:t>DCDC</a:t>
            </a:r>
            <a:r>
              <a:rPr lang="zh-CN" altLang="en-US">
                <a:latin typeface="+mn-ea"/>
              </a:rPr>
              <a:t>电路与</a:t>
            </a:r>
            <a:r>
              <a:rPr lang="en-US" altLang="zh-CN">
                <a:latin typeface="+mn-ea"/>
              </a:rPr>
              <a:t>STM32G474VET6</a:t>
            </a:r>
            <a:r>
              <a:rPr lang="zh-CN" altLang="en-US">
                <a:latin typeface="+mn-ea"/>
              </a:rPr>
              <a:t>核心板在嘉立创打板</a:t>
            </a:r>
            <a:endParaRPr lang="en-US" altLang="zh-CN">
              <a:latin typeface="+mn-ea"/>
            </a:endParaRPr>
          </a:p>
          <a:p>
            <a:r>
              <a:rPr lang="en-US" altLang="zh-CN">
                <a:latin typeface="+mn-ea"/>
              </a:rPr>
              <a:t>2.</a:t>
            </a:r>
            <a:r>
              <a:rPr lang="zh-CN" altLang="en-US">
                <a:latin typeface="+mn-ea"/>
              </a:rPr>
              <a:t>设计正负</a:t>
            </a:r>
            <a:r>
              <a:rPr lang="en-US" altLang="zh-CN">
                <a:latin typeface="+mn-ea"/>
              </a:rPr>
              <a:t>LDO</a:t>
            </a:r>
            <a:r>
              <a:rPr lang="zh-CN" altLang="en-US">
                <a:latin typeface="+mn-ea"/>
              </a:rPr>
              <a:t>电源，要求输出正负</a:t>
            </a:r>
            <a:r>
              <a:rPr lang="en-US" altLang="zh-CN">
                <a:latin typeface="+mn-ea"/>
              </a:rPr>
              <a:t>2.5V</a:t>
            </a:r>
            <a:r>
              <a:rPr lang="zh-CN" altLang="en-US">
                <a:latin typeface="+mn-ea"/>
              </a:rPr>
              <a:t>，正负</a:t>
            </a:r>
            <a:r>
              <a:rPr lang="en-US" altLang="zh-CN">
                <a:latin typeface="+mn-ea"/>
              </a:rPr>
              <a:t>5V</a:t>
            </a:r>
            <a:r>
              <a:rPr lang="zh-CN" altLang="en-US">
                <a:latin typeface="+mn-ea"/>
              </a:rPr>
              <a:t>，正负</a:t>
            </a:r>
            <a:r>
              <a:rPr lang="en-US" altLang="zh-CN">
                <a:latin typeface="+mn-ea"/>
              </a:rPr>
              <a:t>12V</a:t>
            </a:r>
          </a:p>
        </p:txBody>
      </p:sp>
    </p:spTree>
    <p:extLst>
      <p:ext uri="{BB962C8B-B14F-4D97-AF65-F5344CB8AC3E}">
        <p14:creationId xmlns:p14="http://schemas.microsoft.com/office/powerpoint/2010/main" val="198382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78CFB3-F4D0-4A82-BA2B-F8939E870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/>
              <a:t>五、学期中的培训计划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93902860-3A39-B756-FA0D-252F2114619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61141"/>
              </p:ext>
            </p:extLst>
          </p:nvPr>
        </p:nvGraphicFramePr>
        <p:xfrm>
          <a:off x="411480" y="1018964"/>
          <a:ext cx="10679429" cy="5185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928028231"/>
                    </a:ext>
                  </a:extLst>
                </a:gridCol>
                <a:gridCol w="7534656">
                  <a:extLst>
                    <a:ext uri="{9D8B030D-6E8A-4147-A177-3AD203B41FA5}">
                      <a16:colId xmlns:a16="http://schemas.microsoft.com/office/drawing/2014/main" val="4061705334"/>
                    </a:ext>
                  </a:extLst>
                </a:gridCol>
                <a:gridCol w="1590293">
                  <a:extLst>
                    <a:ext uri="{9D8B030D-6E8A-4147-A177-3AD203B41FA5}">
                      <a16:colId xmlns:a16="http://schemas.microsoft.com/office/drawing/2014/main" val="290144776"/>
                    </a:ext>
                  </a:extLst>
                </a:gridCol>
              </a:tblGrid>
              <a:tr h="504542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2000"/>
                        <a:t>以</a:t>
                      </a:r>
                      <a:r>
                        <a:rPr lang="en-US" altLang="zh-CN" sz="2000"/>
                        <a:t>2019</a:t>
                      </a:r>
                      <a:r>
                        <a:rPr lang="zh-CN" altLang="en-US" sz="2000"/>
                        <a:t>年</a:t>
                      </a:r>
                      <a:r>
                        <a:rPr lang="en-US" altLang="zh-CN" sz="2000"/>
                        <a:t>D</a:t>
                      </a:r>
                      <a:r>
                        <a:rPr lang="zh-CN" altLang="en-US" sz="2000"/>
                        <a:t>题</a:t>
                      </a:r>
                      <a:r>
                        <a:rPr lang="en-US" altLang="zh-CN" sz="2000"/>
                        <a:t>-</a:t>
                      </a:r>
                      <a:r>
                        <a:rPr lang="zh-CN" altLang="en-US" sz="2000"/>
                        <a:t>简易电路特性测试仪为驱动，学习模块，制作电路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9945984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主要内容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主讲人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268271"/>
                  </a:ext>
                </a:extLst>
              </a:tr>
              <a:tr h="644139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3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Stm32</a:t>
                      </a:r>
                      <a:r>
                        <a:rPr lang="zh-CN" altLang="en-US"/>
                        <a:t>基础，立创</a:t>
                      </a:r>
                      <a:r>
                        <a:rPr lang="en-US" altLang="zh-CN" err="1"/>
                        <a:t>eda</a:t>
                      </a:r>
                      <a:r>
                        <a:rPr lang="zh-CN" altLang="en-US"/>
                        <a:t>基础，相关软件推荐，环境搭建（课后练习，打板）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7370706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4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串口，定时器，电源模块制作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8499224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5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ADC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DAC</a:t>
                      </a:r>
                      <a:r>
                        <a:rPr lang="zh-CN" altLang="en-US"/>
                        <a:t>，</a:t>
                      </a:r>
                      <a:r>
                        <a:rPr lang="en-US" altLang="zh-CN"/>
                        <a:t>DMA</a:t>
                      </a:r>
                      <a:r>
                        <a:rPr lang="zh-CN" altLang="en-US"/>
                        <a:t>，滤波器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4644926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6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按键，显示屏，</a:t>
                      </a:r>
                      <a:r>
                        <a:rPr lang="en-US" altLang="zh-CN"/>
                        <a:t>DDS</a:t>
                      </a: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6423525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7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验收前期内容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3058167"/>
                  </a:ext>
                </a:extLst>
              </a:tr>
              <a:tr h="644139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8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无基础：</a:t>
                      </a:r>
                      <a:r>
                        <a:rPr lang="en-US" altLang="zh-CN"/>
                        <a:t>2019</a:t>
                      </a:r>
                      <a:r>
                        <a:rPr lang="zh-CN" altLang="en-US"/>
                        <a:t>年赛题讲解</a:t>
                      </a:r>
                      <a:endParaRPr lang="en-US" altLang="zh-CN"/>
                    </a:p>
                    <a:p>
                      <a:pPr algn="ctr"/>
                      <a:r>
                        <a:rPr lang="zh-CN" altLang="en-US"/>
                        <a:t>有基础：</a:t>
                      </a:r>
                      <a:r>
                        <a:rPr lang="en-US" altLang="zh-CN"/>
                        <a:t>LCR</a:t>
                      </a:r>
                      <a:r>
                        <a:rPr lang="zh-CN" altLang="en-US"/>
                        <a:t>表制作讲解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汪源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0597980"/>
                  </a:ext>
                </a:extLst>
              </a:tr>
              <a:tr h="504542"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第</a:t>
                      </a:r>
                      <a:r>
                        <a:rPr lang="en-US" altLang="zh-CN"/>
                        <a:t>9</a:t>
                      </a:r>
                      <a:r>
                        <a:rPr lang="zh-CN" altLang="en-US"/>
                        <a:t>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/>
                        <a:t>做题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506718"/>
                  </a:ext>
                </a:extLst>
              </a:tr>
              <a:tr h="19600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4242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07939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1257</TotalTime>
  <Words>871</Words>
  <Application>Microsoft Office PowerPoint</Application>
  <PresentationFormat>宽屏</PresentationFormat>
  <Paragraphs>97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7" baseType="lpstr">
      <vt:lpstr>等线</vt:lpstr>
      <vt:lpstr>仿宋</vt:lpstr>
      <vt:lpstr>微软雅黑</vt:lpstr>
      <vt:lpstr>Arial</vt:lpstr>
      <vt:lpstr>Calibri</vt:lpstr>
      <vt:lpstr>Calibri Light</vt:lpstr>
      <vt:lpstr>Tahoma</vt:lpstr>
      <vt:lpstr>Times New Roman</vt:lpstr>
      <vt:lpstr>Office 主题</vt:lpstr>
      <vt:lpstr>PowerPoint 演示文稿</vt:lpstr>
      <vt:lpstr>一、主要内容</vt:lpstr>
      <vt:lpstr>二、串口与定时器</vt:lpstr>
      <vt:lpstr>三、电源模块介绍</vt:lpstr>
      <vt:lpstr>三、电源模块介绍</vt:lpstr>
      <vt:lpstr>三、电源模块介绍</vt:lpstr>
      <vt:lpstr>四、课后任务</vt:lpstr>
      <vt:lpstr>五、学期中的培训计划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dengchunhua@hust.edu.cn</dc:creator>
  <cp:lastModifiedBy>mikoto misaka</cp:lastModifiedBy>
  <cp:revision>2310</cp:revision>
  <cp:lastPrinted>2021-11-17T07:39:00Z</cp:lastPrinted>
  <dcterms:created xsi:type="dcterms:W3CDTF">2017-01-03T09:21:00Z</dcterms:created>
  <dcterms:modified xsi:type="dcterms:W3CDTF">2024-09-25T10:05:16Z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2052-11.8.6.8556</vt:lpwstr>
  </property>
</Properties>
</file>