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625" r:id="rId3"/>
    <p:sldId id="646" r:id="rId4"/>
    <p:sldId id="634" r:id="rId5"/>
    <p:sldId id="647" r:id="rId6"/>
    <p:sldId id="648" r:id="rId7"/>
    <p:sldId id="649" r:id="rId8"/>
    <p:sldId id="650" r:id="rId9"/>
    <p:sldId id="651" r:id="rId10"/>
    <p:sldId id="652" r:id="rId11"/>
    <p:sldId id="653" r:id="rId12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gxin he" initials="hh" lastIdx="1" clrIdx="0"/>
  <p:cmAuthor id="2" name="dengchunhua@hust.edu.cn" initials="d" lastIdx="1" clrIdx="1"/>
  <p:cmAuthor id="3" name="zhangh" initials="z" lastIdx="0" clrIdx="2"/>
  <p:cmAuthor id="4" name="rory" initials="r" lastIdx="1" clrIdx="3">
    <p:extLst>
      <p:ext uri="{19B8F6BF-5375-455C-9EA6-DF929625EA0E}">
        <p15:presenceInfo xmlns:p15="http://schemas.microsoft.com/office/powerpoint/2012/main" userId="ro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548BDC"/>
    <a:srgbClr val="0099FF"/>
    <a:srgbClr val="9933FF"/>
    <a:srgbClr val="315B2F"/>
    <a:srgbClr val="FF0066"/>
    <a:srgbClr val="FF3399"/>
    <a:srgbClr val="66FF33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82473" autoAdjust="0"/>
  </p:normalViewPr>
  <p:slideViewPr>
    <p:cSldViewPr snapToGrid="0">
      <p:cViewPr varScale="1">
        <p:scale>
          <a:sx n="91" d="100"/>
          <a:sy n="91" d="100"/>
        </p:scale>
        <p:origin x="4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7EBF0-E8F7-49ED-854D-6EAC1668934A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ABE42-4FE0-4666-B7C9-82FA60E3C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709B5-BCA3-4BE5-B10C-186128433F84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B29BC-EAC3-4B58-83D7-867CA2B6A3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B29BC-EAC3-4B58-83D7-867CA2B6A39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360C8-C842-0759-5473-05B90BBFD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A73327-DAFE-E4B7-05C5-DA6C92E3A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59ADF9-5F8F-9C5C-1D0D-E8602B1BC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B788A-D008-8E0C-AB55-8D04313E8F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301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945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B286-6BD2-3111-8D67-83ED1E0F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8840A8-9698-98C8-2284-A75757318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DC633E-FFE2-6B59-7184-596BD4074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D255FD-1066-5766-37E5-4713A3D83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731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19630-BFF3-A80D-4D5D-BE9AC0B92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C656F9-6E29-1CE4-6797-336065EA2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A046D0B-B67A-5E4B-1B6A-8D54CD3DF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0B6FC9-C6F4-ACC2-C65D-864CD7C53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609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99009-5944-76E4-C0B3-512D76ED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B7970A-B1FF-814B-2313-54035787A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67BCE0-22EF-9215-ED51-9C07DB9D0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A255DC-C008-A0E3-1BE2-C51B9722D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2952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0AEE0-4F06-B07C-DC34-D061EDB9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E02429-A0DB-16E2-73DA-B78C056A8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45766C-D37A-4FC9-A906-05E62E994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33B8AB-5879-8AAE-A542-8DF879454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4102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2B19B-6DB0-5E25-A82C-B270B73C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2A26DE-EDB1-3735-02FB-A96D3AAE8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B243BC-1D9D-9B98-BD38-C323E042D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CC67FC-D8DA-4DA1-CCA5-D96F253C3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760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8BCA6-6F15-6291-45B3-14410778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0B4E5A-2F06-9735-92F7-48FA9474A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68EA6A-521F-B666-6556-3BE5D356F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B21135-326D-2D42-E460-AE01645ADA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3990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0F262-A0D2-DF63-8587-54E15F4E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939060-32EC-E04A-81A4-BA6E5CFDF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92FAAC-2927-CEAE-DEB4-01C967E22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05F95-05AA-670E-C2B1-022B37F24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8718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956247"/>
            <a:ext cx="12192000" cy="12361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04974"/>
            <a:ext cx="12192000" cy="7308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7" descr="148550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909"/>
            <a:ext cx="1631491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平行四边形 6"/>
          <p:cNvSpPr/>
          <p:nvPr userDrawn="1"/>
        </p:nvSpPr>
        <p:spPr>
          <a:xfrm>
            <a:off x="2380889" y="737999"/>
            <a:ext cx="9811112" cy="126599"/>
          </a:xfrm>
          <a:prstGeom prst="parallelogram">
            <a:avLst>
              <a:gd name="adj" fmla="val 990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平行四边形 7"/>
          <p:cNvSpPr/>
          <p:nvPr userDrawn="1"/>
        </p:nvSpPr>
        <p:spPr>
          <a:xfrm>
            <a:off x="1675972" y="738000"/>
            <a:ext cx="720000" cy="90000"/>
          </a:xfrm>
          <a:prstGeom prst="parallelogram">
            <a:avLst>
              <a:gd name="adj" fmla="val 99032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平行四边形 8"/>
          <p:cNvSpPr/>
          <p:nvPr userDrawn="1"/>
        </p:nvSpPr>
        <p:spPr>
          <a:xfrm>
            <a:off x="0" y="738000"/>
            <a:ext cx="1682878" cy="126598"/>
          </a:xfrm>
          <a:prstGeom prst="parallelogram">
            <a:avLst>
              <a:gd name="adj" fmla="val 9903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0" y="108001"/>
            <a:ext cx="12192000" cy="684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endParaRPr lang="en-US" altLang="zh-CN" sz="3200">
              <a:solidFill>
                <a:srgbClr val="0070C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36000"/>
            <a:ext cx="12192000" cy="720000"/>
          </a:xfrm>
        </p:spPr>
        <p:txBody>
          <a:bodyPr>
            <a:noAutofit/>
          </a:bodyPr>
          <a:lstStyle>
            <a:lvl1pPr algn="ctr">
              <a:defRPr sz="28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15E12-E1AF-4085-A7A4-DC9946A0F4CC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s/6m6UuKKBpOwlt3xZU7sZk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s/6m6UuKKBpOwlt3xZU7sZk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.cn/cn/lit/ug/zhcu794b/zhcu794b.pdf?ts=1738914000930&amp;ref_url=https%253A%252F%252Fcn.bing.com%252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498571" y="1486066"/>
            <a:ext cx="9194858" cy="2948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en-US" altLang="zh-CN" sz="60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2023</a:t>
            </a:r>
            <a:r>
              <a:rPr lang="zh-CN" altLang="en-US" sz="60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60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60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题讲解</a:t>
            </a:r>
            <a:endParaRPr lang="en-US" altLang="zh-CN" sz="6000">
              <a:solidFill>
                <a:srgbClr val="0070C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35000"/>
              </a:lnSpc>
            </a:pPr>
            <a:r>
              <a:rPr lang="zh-CN" altLang="en-US" sz="28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电容电感测量装置</a:t>
            </a:r>
            <a:endParaRPr lang="en-US" altLang="zh-CN" sz="2800">
              <a:solidFill>
                <a:srgbClr val="FF000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2"/>
          <p:cNvSpPr txBox="1">
            <a:spLocks noChangeArrowheads="1"/>
          </p:cNvSpPr>
          <p:nvPr/>
        </p:nvSpPr>
        <p:spPr bwMode="auto">
          <a:xfrm>
            <a:off x="4465320" y="4768109"/>
            <a:ext cx="43891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1pPr>
            <a:lvl2pPr marL="742950" indent="-28575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2pPr>
            <a:lvl3pPr marL="11430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3pPr>
            <a:lvl4pPr marL="16002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4pPr>
            <a:lvl5pPr marL="20574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主讲人：汪源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一、题目要求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2BAE37-1207-93D2-DF88-DD54EEBED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1" y="1333208"/>
            <a:ext cx="7506748" cy="20957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F13A04-B336-796A-BE7A-548DC66AC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36542"/>
            <a:ext cx="8306959" cy="25911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7951-F99D-99B6-C1DE-1EBF3B27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E4D3957-CED3-558F-455D-718260A86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一、题目要求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F48B95-700E-DC6F-73B8-5E05B083D8A8}"/>
              </a:ext>
            </a:extLst>
          </p:cNvPr>
          <p:cNvSpPr txBox="1"/>
          <p:nvPr/>
        </p:nvSpPr>
        <p:spPr>
          <a:xfrm>
            <a:off x="475989" y="1453019"/>
            <a:ext cx="10684701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要求总结</a:t>
            </a:r>
            <a:endParaRPr lang="en-US" altLang="zh-CN" sz="3200"/>
          </a:p>
          <a:p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必须使用</a:t>
            </a:r>
            <a:r>
              <a:rPr lang="en-US" altLang="zh-CN"/>
              <a:t>TI</a:t>
            </a:r>
            <a:r>
              <a:rPr lang="zh-CN" altLang="en-US"/>
              <a:t>的处理器完成测量，我们使用的是</a:t>
            </a:r>
            <a:r>
              <a:rPr lang="en-US" altLang="zh-CN"/>
              <a:t>MSPM0G3507</a:t>
            </a:r>
            <a:r>
              <a:rPr lang="zh-CN" altLang="en-US"/>
              <a:t>（必须掌握使用）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在固定频率下测量电容容值</a:t>
            </a:r>
            <a:r>
              <a:rPr lang="en-US" altLang="zh-CN"/>
              <a:t>C</a:t>
            </a:r>
            <a:r>
              <a:rPr lang="zh-CN" altLang="en-US"/>
              <a:t>与损耗值正切</a:t>
            </a:r>
            <a:r>
              <a:rPr lang="en-US" altLang="zh-CN"/>
              <a:t>D</a:t>
            </a:r>
            <a:r>
              <a:rPr lang="zh-CN" altLang="en-US"/>
              <a:t>值，</a:t>
            </a:r>
            <a:r>
              <a:rPr lang="en-US" altLang="zh-CN"/>
              <a:t>1</a:t>
            </a:r>
            <a:r>
              <a:rPr lang="zh-CN" altLang="en-US"/>
              <a:t>秒内完成测量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在任意频率下测量电感感值</a:t>
            </a:r>
            <a:r>
              <a:rPr lang="en-US" altLang="zh-CN"/>
              <a:t>L</a:t>
            </a:r>
            <a:r>
              <a:rPr lang="zh-CN" altLang="en-US"/>
              <a:t>与品质因数</a:t>
            </a:r>
            <a:r>
              <a:rPr lang="en-US" altLang="zh-CN"/>
              <a:t>Q</a:t>
            </a:r>
            <a:r>
              <a:rPr lang="zh-CN" altLang="en-US"/>
              <a:t>，</a:t>
            </a:r>
            <a:r>
              <a:rPr lang="en-US" altLang="zh-CN"/>
              <a:t>5</a:t>
            </a:r>
            <a:r>
              <a:rPr lang="zh-CN" altLang="en-US"/>
              <a:t>秒内完成测量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注意事项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要求一键自动测量，具有清晰的人机交互按键与界面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留出合理的测量接口，方便更换测量元件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一定要选择最稳定的焊接与接插方式</a:t>
            </a:r>
          </a:p>
        </p:txBody>
      </p:sp>
    </p:spTree>
    <p:extLst>
      <p:ext uri="{BB962C8B-B14F-4D97-AF65-F5344CB8AC3E}">
        <p14:creationId xmlns:p14="http://schemas.microsoft.com/office/powerpoint/2010/main" val="13084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二、难点分析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04E5CC-4999-2BC1-1BCC-17B71C434EBF}"/>
              </a:ext>
            </a:extLst>
          </p:cNvPr>
          <p:cNvSpPr txBox="1"/>
          <p:nvPr/>
        </p:nvSpPr>
        <p:spPr>
          <a:xfrm>
            <a:off x="502571" y="1319249"/>
            <a:ext cx="111612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电容测量变化范围较大，为</a:t>
            </a:r>
            <a:r>
              <a:rPr lang="en-US" altLang="zh-CN"/>
              <a:t>100</a:t>
            </a:r>
            <a:r>
              <a:rPr lang="zh-CN" altLang="en-US"/>
              <a:t>倍</a:t>
            </a:r>
            <a:endParaRPr lang="en-US" altLang="zh-CN"/>
          </a:p>
          <a:p>
            <a:r>
              <a:rPr lang="en-US" altLang="zh-CN"/>
              <a:t>     </a:t>
            </a:r>
            <a:r>
              <a:rPr lang="zh-CN" altLang="en-US"/>
              <a:t>使用阻抗法测量电容时，电容的阻抗变化最大</a:t>
            </a:r>
            <a:r>
              <a:rPr lang="en-US" altLang="zh-CN"/>
              <a:t>100</a:t>
            </a:r>
            <a:r>
              <a:rPr lang="zh-CN" altLang="en-US"/>
              <a:t>倍，必须要分档测量，否则精度不够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电感在低频下阻抗太小</a:t>
            </a:r>
            <a:endParaRPr lang="en-US" altLang="zh-CN"/>
          </a:p>
          <a:p>
            <a:r>
              <a:rPr lang="en-US" altLang="zh-CN"/>
              <a:t>     </a:t>
            </a:r>
            <a:r>
              <a:rPr lang="zh-CN" altLang="en-US"/>
              <a:t>电感的变化范围为</a:t>
            </a:r>
            <a:r>
              <a:rPr lang="en-US" altLang="zh-CN"/>
              <a:t>10</a:t>
            </a:r>
            <a:r>
              <a:rPr lang="zh-CN" altLang="en-US"/>
              <a:t>倍，不是很大，但是低频下阻抗过小，高频下又提高了对</a:t>
            </a:r>
            <a:r>
              <a:rPr lang="en-US" altLang="zh-CN"/>
              <a:t>ADC</a:t>
            </a:r>
            <a:r>
              <a:rPr lang="zh-CN" altLang="en-US"/>
              <a:t>的要求，使用阻抗法较为困难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引线电阻对测量结果的影响</a:t>
            </a:r>
            <a:endParaRPr lang="en-US" altLang="zh-CN"/>
          </a:p>
          <a:p>
            <a:r>
              <a:rPr lang="en-US" altLang="zh-CN"/>
              <a:t>      </a:t>
            </a:r>
            <a:r>
              <a:rPr lang="zh-CN" altLang="en-US"/>
              <a:t>连接电容电感的引线与触点，本身存在一定电阻，而电容阻抗较大，影响可以忽略，但是电感阻抗小，最好使用开尔文接法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4.</a:t>
            </a:r>
            <a:r>
              <a:rPr lang="zh-CN" altLang="en-US"/>
              <a:t>电感的小阻抗引起负载过重</a:t>
            </a:r>
            <a:endParaRPr lang="en-US" altLang="zh-CN"/>
          </a:p>
          <a:p>
            <a:r>
              <a:rPr lang="en-US" altLang="zh-CN"/>
              <a:t>       </a:t>
            </a:r>
            <a:r>
              <a:rPr lang="zh-CN" altLang="en-US"/>
              <a:t>频率较低时，电感的阻抗只有几欧姆，负载太重，要考虑</a:t>
            </a:r>
            <a:r>
              <a:rPr lang="en-US" altLang="zh-CN"/>
              <a:t>DDS</a:t>
            </a:r>
            <a:r>
              <a:rPr lang="zh-CN" altLang="en-US"/>
              <a:t>、运放等能否带的动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7688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FE9B5-9335-DF0A-DC5C-55A4D59D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D7F32F8-06FD-64E9-6563-63CA96868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三、方案分析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7BB735-F609-7FF0-2A9A-71BE2AA5747E}"/>
              </a:ext>
            </a:extLst>
          </p:cNvPr>
          <p:cNvSpPr txBox="1"/>
          <p:nvPr/>
        </p:nvSpPr>
        <p:spPr>
          <a:xfrm>
            <a:off x="585169" y="1333346"/>
            <a:ext cx="11161264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推荐方案：阻抗法</a:t>
            </a:r>
            <a:endParaRPr lang="en-US" altLang="zh-CN" sz="3200"/>
          </a:p>
          <a:p>
            <a:r>
              <a:rPr lang="en-US" altLang="zh-CN"/>
              <a:t>	</a:t>
            </a:r>
            <a:r>
              <a:rPr lang="zh-CN" altLang="en-US"/>
              <a:t>实际电容模型可以看作一个电阻与一个理想电容串联或并联（这个与计算方法和标定时的</a:t>
            </a:r>
            <a:r>
              <a:rPr lang="en-US" altLang="zh-CN"/>
              <a:t>LCR</a:t>
            </a:r>
            <a:r>
              <a:rPr lang="zh-CN" altLang="en-US"/>
              <a:t>有关，建议使用串联模型，方便计算），分别测量出电阻值与电容值，即可完成题目的测量要求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前面提到为了保证精度，需要设计多个挡位进行测量，换挡的本质是增大有效信号的幅值，方便</a:t>
            </a:r>
            <a:r>
              <a:rPr lang="en-US" altLang="zh-CN"/>
              <a:t>ADC</a:t>
            </a:r>
            <a:r>
              <a:rPr lang="zh-CN" altLang="en-US"/>
              <a:t>采集与计算，这里有两种换挡方式。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阻抗法</a:t>
            </a:r>
            <a:r>
              <a:rPr lang="en-US" altLang="zh-CN"/>
              <a:t>1</a:t>
            </a:r>
            <a:r>
              <a:rPr lang="zh-CN" altLang="en-US"/>
              <a:t>：将参考电阻与电容串联，通过更换参考电阻实现换挡</a:t>
            </a:r>
            <a:endParaRPr lang="en-US" altLang="zh-CN"/>
          </a:p>
          <a:p>
            <a:r>
              <a:rPr lang="zh-CN" altLang="en-US"/>
              <a:t>阻抗法</a:t>
            </a:r>
            <a:r>
              <a:rPr lang="en-US" altLang="zh-CN"/>
              <a:t>2</a:t>
            </a:r>
            <a:r>
              <a:rPr lang="zh-CN" altLang="en-US"/>
              <a:t>：使用自平衡电桥，通过更换运放的反馈电阻实现换挡（不建议，一般不会更换反馈电阻，可能会影响环路稳定性）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CBDFA3-A1A7-C17E-05A3-8E15521A3BE9}"/>
              </a:ext>
            </a:extLst>
          </p:cNvPr>
          <p:cNvSpPr txBox="1"/>
          <p:nvPr/>
        </p:nvSpPr>
        <p:spPr>
          <a:xfrm>
            <a:off x="4504525" y="990054"/>
            <a:ext cx="318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一、电容测量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92688E-4F9D-A29B-900C-6BD9AF19B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584" y="3798087"/>
            <a:ext cx="1495634" cy="290079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2B09C68-D899-E4DF-BC58-D957F2CA2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708" y="4169628"/>
            <a:ext cx="4035941" cy="233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80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9546C-6CEC-5CC1-FFFF-F884B61A2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30314BD-9CE6-6A78-5BB7-E3B20B9A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三、方案分析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3AEA21-BBA6-DB31-C651-AA98A8131150}"/>
              </a:ext>
            </a:extLst>
          </p:cNvPr>
          <p:cNvSpPr txBox="1"/>
          <p:nvPr/>
        </p:nvSpPr>
        <p:spPr>
          <a:xfrm>
            <a:off x="564228" y="1574829"/>
            <a:ext cx="87193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具体方案：</a:t>
            </a:r>
            <a:endParaRPr lang="en-US" altLang="zh-CN" sz="2800"/>
          </a:p>
          <a:p>
            <a:r>
              <a:rPr lang="en-US" altLang="zh-CN"/>
              <a:t>1.</a:t>
            </a:r>
            <a:r>
              <a:rPr lang="zh-CN" altLang="en-US"/>
              <a:t>使用一个参考电阻与待测电容串联（注意要使用多个参考电阻与光耦组合实现换挡）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使用</a:t>
            </a:r>
            <a:r>
              <a:rPr lang="en-US" altLang="zh-CN"/>
              <a:t>DDS</a:t>
            </a:r>
            <a:r>
              <a:rPr lang="zh-CN" altLang="en-US"/>
              <a:t>或单片机自带</a:t>
            </a:r>
            <a:r>
              <a:rPr lang="en-US" altLang="zh-CN"/>
              <a:t>DAC</a:t>
            </a:r>
            <a:r>
              <a:rPr lang="zh-CN" altLang="en-US"/>
              <a:t>产生</a:t>
            </a:r>
            <a:r>
              <a:rPr lang="en-US" altLang="zh-CN"/>
              <a:t>1Khz</a:t>
            </a:r>
            <a:r>
              <a:rPr lang="zh-CN" altLang="en-US"/>
              <a:t>正弦波作为激励信号（图中的</a:t>
            </a:r>
            <a:r>
              <a:rPr lang="en-US" altLang="zh-CN"/>
              <a:t>U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使用</a:t>
            </a:r>
            <a:r>
              <a:rPr lang="en-US" altLang="zh-CN"/>
              <a:t>ADC</a:t>
            </a:r>
            <a:r>
              <a:rPr lang="zh-CN" altLang="en-US"/>
              <a:t>同时采集信号</a:t>
            </a:r>
            <a:r>
              <a:rPr lang="en-US" altLang="zh-CN"/>
              <a:t>U</a:t>
            </a:r>
            <a:r>
              <a:rPr lang="zh-CN" altLang="en-US"/>
              <a:t>与</a:t>
            </a:r>
            <a:r>
              <a:rPr lang="en-US" altLang="zh-CN"/>
              <a:t>Uc</a:t>
            </a:r>
            <a:r>
              <a:rPr lang="zh-CN" altLang="en-US"/>
              <a:t>（使用电压跟随器阻抗匹配），得到这两个信号的幅值信息</a:t>
            </a:r>
            <a:endParaRPr lang="en-US" altLang="zh-CN"/>
          </a:p>
          <a:p>
            <a:r>
              <a:rPr lang="en-US" altLang="zh-CN"/>
              <a:t>4.</a:t>
            </a:r>
            <a:r>
              <a:rPr lang="zh-CN" altLang="en-US"/>
              <a:t>利用采集到的信号分析出</a:t>
            </a:r>
            <a:r>
              <a:rPr lang="en-US" altLang="zh-CN"/>
              <a:t>U</a:t>
            </a:r>
            <a:r>
              <a:rPr lang="zh-CN" altLang="en-US"/>
              <a:t>与</a:t>
            </a:r>
            <a:r>
              <a:rPr lang="en-US" altLang="zh-CN"/>
              <a:t>Uc</a:t>
            </a:r>
            <a:r>
              <a:rPr lang="zh-CN" altLang="en-US"/>
              <a:t>的相位差（即为向量图中的角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这里的相位差可以有多种方法分析：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）直接判断过零点，简单但精度较低；</a:t>
            </a:r>
            <a:endParaRPr lang="en-US" altLang="zh-CN"/>
          </a:p>
          <a:p>
            <a:r>
              <a:rPr lang="en-US" altLang="zh-CN"/>
              <a:t>	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）正交鉴相法，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对分压波形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0~180°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进行积分并减去直流分量后，可得实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	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部电压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Ureal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。对分压波形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90~270°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进行积分并减去直流分量后，可得虚部电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	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压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Uimg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。参考链接</a:t>
            </a:r>
            <a:r>
              <a:rPr lang="zh-CN" altLang="en-US">
                <a:hlinkClick r:id="rId3"/>
              </a:rPr>
              <a:t>基于</a:t>
            </a:r>
            <a:r>
              <a:rPr lang="en-US" altLang="zh-CN">
                <a:hlinkClick r:id="rId3"/>
              </a:rPr>
              <a:t>MSPM0</a:t>
            </a:r>
            <a:r>
              <a:rPr lang="zh-CN" altLang="en-US">
                <a:hlinkClick r:id="rId3"/>
              </a:rPr>
              <a:t>微控制器的电感电容测量装置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	</a:t>
            </a:r>
          </a:p>
          <a:p>
            <a:r>
              <a:rPr lang="en-US" altLang="zh-CN">
                <a:solidFill>
                  <a:srgbClr val="3E3E3E"/>
                </a:solidFill>
                <a:latin typeface="PingFang SC"/>
              </a:rPr>
              <a:t>	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（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3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）使用一个标准的同频正弦波序列，与信号相乘后积分，得到的结果中</a:t>
            </a:r>
            <a:r>
              <a:rPr lang="en-US" altLang="zh-CN" b="0" i="0">
                <a:solidFill>
                  <a:srgbClr val="3E3E3E"/>
                </a:solidFill>
                <a:effectLst/>
                <a:latin typeface="PingFang SC"/>
              </a:rPr>
              <a:t>	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包含了信号的相位信息，两个信号的相位相减即为相位差</a:t>
            </a:r>
            <a:endParaRPr lang="en-US" altLang="zh-CN" b="0" i="0">
              <a:solidFill>
                <a:srgbClr val="3E3E3E"/>
              </a:solidFill>
              <a:effectLst/>
              <a:latin typeface="PingFang SC"/>
            </a:endParaRPr>
          </a:p>
          <a:p>
            <a:r>
              <a:rPr lang="en-US" altLang="zh-CN">
                <a:solidFill>
                  <a:srgbClr val="3E3E3E"/>
                </a:solidFill>
                <a:latin typeface="PingFang SC"/>
              </a:rPr>
              <a:t>5.</a:t>
            </a:r>
            <a:r>
              <a:rPr lang="zh-CN" altLang="en-US">
                <a:solidFill>
                  <a:srgbClr val="3E3E3E"/>
                </a:solidFill>
                <a:latin typeface="PingFang SC"/>
              </a:rPr>
              <a:t>得到幅值与相位差信息后，利用向量法求解出损耗角、功率因数等参数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A1629A-DD5B-1046-714B-5191294C8A4D}"/>
              </a:ext>
            </a:extLst>
          </p:cNvPr>
          <p:cNvSpPr txBox="1"/>
          <p:nvPr/>
        </p:nvSpPr>
        <p:spPr>
          <a:xfrm>
            <a:off x="4504525" y="990054"/>
            <a:ext cx="318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一、电容测量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4ED4E7-CA75-F306-50A7-A4BE06FD1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9910" y="988699"/>
            <a:ext cx="1495634" cy="29007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23B4186-BA0B-DA24-2B3E-F6E77920D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9198" y="3889497"/>
            <a:ext cx="2012135" cy="278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75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BC96D-4957-E4DE-3963-D0527823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095F200-8762-8FDA-4E65-0FCFD7E27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三、方案分析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4EA8A5-7FE1-165F-62DF-83D33FBD1D28}"/>
              </a:ext>
            </a:extLst>
          </p:cNvPr>
          <p:cNvSpPr txBox="1"/>
          <p:nvPr/>
        </p:nvSpPr>
        <p:spPr>
          <a:xfrm>
            <a:off x="564228" y="1574829"/>
            <a:ext cx="871937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注意事项：</a:t>
            </a:r>
            <a:endParaRPr lang="en-US" altLang="zh-CN" sz="2800"/>
          </a:p>
          <a:p>
            <a:r>
              <a:rPr lang="en-US" altLang="zh-CN"/>
              <a:t>1.</a:t>
            </a:r>
            <a:r>
              <a:rPr lang="zh-CN" altLang="en-US"/>
              <a:t>参考电阻与光耦串联，应该考虑光耦的电阻影响（我们的光耦导通电阻在</a:t>
            </a:r>
            <a:r>
              <a:rPr lang="en-US" altLang="zh-CN"/>
              <a:t>5</a:t>
            </a:r>
            <a:r>
              <a:rPr lang="zh-CN" altLang="en-US"/>
              <a:t>欧姆左右）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2.U</a:t>
            </a:r>
            <a:r>
              <a:rPr lang="zh-CN" altLang="en-US"/>
              <a:t>与</a:t>
            </a:r>
            <a:r>
              <a:rPr lang="en-US" altLang="zh-CN"/>
              <a:t>Uc</a:t>
            </a:r>
            <a:r>
              <a:rPr lang="zh-CN" altLang="en-US"/>
              <a:t>处的信号一定是同时采样，这样算出来的相位差才是准确的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评测时会用一个电阻与电容串联进行测量，要保证留出接口方便测量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8EBDE1-16C9-4B37-45DF-0C7458E22943}"/>
              </a:ext>
            </a:extLst>
          </p:cNvPr>
          <p:cNvSpPr txBox="1"/>
          <p:nvPr/>
        </p:nvSpPr>
        <p:spPr>
          <a:xfrm>
            <a:off x="4504525" y="990054"/>
            <a:ext cx="318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一、电容测量</a:t>
            </a:r>
          </a:p>
        </p:txBody>
      </p:sp>
    </p:spTree>
    <p:extLst>
      <p:ext uri="{BB962C8B-B14F-4D97-AF65-F5344CB8AC3E}">
        <p14:creationId xmlns:p14="http://schemas.microsoft.com/office/powerpoint/2010/main" val="351576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F532D-E09F-63A6-4810-E62C3390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DA0812A-DBEA-715C-AD37-76873533E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三、方案分析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BC237B-830E-B6FB-310C-6D3A490E158A}"/>
              </a:ext>
            </a:extLst>
          </p:cNvPr>
          <p:cNvSpPr txBox="1"/>
          <p:nvPr/>
        </p:nvSpPr>
        <p:spPr>
          <a:xfrm>
            <a:off x="564228" y="1574829"/>
            <a:ext cx="10708719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方案一：阻抗法</a:t>
            </a:r>
            <a:endParaRPr lang="en-US" altLang="zh-CN" sz="2800"/>
          </a:p>
          <a:p>
            <a:r>
              <a:rPr lang="en-US" altLang="zh-CN"/>
              <a:t>	</a:t>
            </a:r>
            <a:r>
              <a:rPr lang="zh-CN" altLang="en-US"/>
              <a:t>和测量电容一样，使用阻抗法测量，但是有以下几个差异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电感阻抗小，负载重，不能直接使用</a:t>
            </a:r>
            <a:r>
              <a:rPr lang="en-US" altLang="zh-CN"/>
              <a:t>DDS</a:t>
            </a:r>
            <a:r>
              <a:rPr lang="zh-CN" altLang="en-US"/>
              <a:t>驱动，要使用共基极电路提高带载能力。</a:t>
            </a:r>
            <a:r>
              <a:rPr lang="zh-CN" altLang="en-US" b="0" i="0">
                <a:solidFill>
                  <a:srgbClr val="3E3E3E"/>
                </a:solidFill>
                <a:effectLst/>
                <a:latin typeface="PingFang SC"/>
              </a:rPr>
              <a:t>参考链接</a:t>
            </a:r>
            <a:r>
              <a:rPr lang="zh-CN" altLang="en-US">
                <a:hlinkClick r:id="rId3"/>
              </a:rPr>
              <a:t>基于</a:t>
            </a:r>
            <a:r>
              <a:rPr lang="en-US" altLang="zh-CN">
                <a:hlinkClick r:id="rId3"/>
              </a:rPr>
              <a:t>MSPM0</a:t>
            </a:r>
            <a:r>
              <a:rPr lang="zh-CN" altLang="en-US">
                <a:hlinkClick r:id="rId3"/>
              </a:rPr>
              <a:t>微控制器的电感电容测量装置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电感阻抗在几欧姆到几百欧姆，如果使用光耦更换参考电阻，光耦导通电阻影响较大，可能要采用更换放大电路反馈电阻的方法放大信号。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引线电阻对电感测量影响较大，测量电感的接口使用开尔文夹以减小影响。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4.</a:t>
            </a:r>
            <a:r>
              <a:rPr lang="zh-CN" altLang="en-US"/>
              <a:t>测量出</a:t>
            </a:r>
            <a:r>
              <a:rPr lang="en-US" altLang="zh-CN"/>
              <a:t>V1</a:t>
            </a:r>
            <a:r>
              <a:rPr lang="zh-CN" altLang="en-US"/>
              <a:t>与</a:t>
            </a:r>
            <a:r>
              <a:rPr lang="en-US" altLang="zh-CN"/>
              <a:t>V2</a:t>
            </a:r>
            <a:r>
              <a:rPr lang="zh-CN" altLang="en-US"/>
              <a:t>，计算相位差，同样使用向量法计算电感感值与品质因数。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注意：</a:t>
            </a:r>
            <a:endParaRPr lang="en-US" altLang="zh-CN"/>
          </a:p>
          <a:p>
            <a:r>
              <a:rPr lang="en-US" altLang="zh-CN"/>
              <a:t>	V1</a:t>
            </a:r>
            <a:r>
              <a:rPr lang="zh-CN" altLang="en-US"/>
              <a:t>与</a:t>
            </a:r>
            <a:r>
              <a:rPr lang="en-US" altLang="zh-CN"/>
              <a:t>V2</a:t>
            </a:r>
            <a:r>
              <a:rPr lang="zh-CN" altLang="en-US"/>
              <a:t>也可以使用</a:t>
            </a:r>
            <a:r>
              <a:rPr lang="en-US" altLang="zh-CN"/>
              <a:t>AD8302</a:t>
            </a:r>
            <a:r>
              <a:rPr lang="zh-CN" altLang="en-US"/>
              <a:t>模块直接测量，激励信号频率可以给高一</a:t>
            </a:r>
            <a:endParaRPr lang="en-US" altLang="zh-CN"/>
          </a:p>
          <a:p>
            <a:r>
              <a:rPr lang="zh-CN" altLang="en-US"/>
              <a:t>点，将振幅比与相位差信息以直流方式输出，软件较为简单，但测量精度未知，</a:t>
            </a:r>
            <a:endParaRPr lang="en-US" altLang="zh-CN"/>
          </a:p>
          <a:p>
            <a:r>
              <a:rPr lang="zh-CN" altLang="en-US"/>
              <a:t>大家可以根据自身情况选择合适方式。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0758DC-60F7-0039-E840-D9B0582C81AE}"/>
              </a:ext>
            </a:extLst>
          </p:cNvPr>
          <p:cNvSpPr txBox="1"/>
          <p:nvPr/>
        </p:nvSpPr>
        <p:spPr>
          <a:xfrm>
            <a:off x="4504525" y="990054"/>
            <a:ext cx="318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二、电感测量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871907-9F18-E78E-75D9-0D4F3474D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7114" y="3747037"/>
            <a:ext cx="3040658" cy="285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15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935CE-B67A-FAE2-E3A3-0F2E353C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EBC5610-0920-AD68-7FC4-86FC23897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三、方案分析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15515D-C2C3-6DA2-4472-9D882451A594}"/>
              </a:ext>
            </a:extLst>
          </p:cNvPr>
          <p:cNvSpPr txBox="1"/>
          <p:nvPr/>
        </p:nvSpPr>
        <p:spPr>
          <a:xfrm>
            <a:off x="564228" y="1574829"/>
            <a:ext cx="10708719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方案二：串联谐振法</a:t>
            </a:r>
            <a:endParaRPr lang="en-US" altLang="zh-CN" sz="2800"/>
          </a:p>
          <a:p>
            <a:r>
              <a:rPr lang="en-US" altLang="zh-CN"/>
              <a:t>	</a:t>
            </a:r>
            <a:r>
              <a:rPr lang="zh-CN" altLang="en-US"/>
              <a:t>利用串联谐振电路，通过不断调整</a:t>
            </a:r>
            <a:r>
              <a:rPr lang="en-US" altLang="zh-CN"/>
              <a:t>DDS</a:t>
            </a:r>
            <a:r>
              <a:rPr lang="zh-CN" altLang="en-US"/>
              <a:t>输出频率，找到电路输</a:t>
            </a:r>
            <a:endParaRPr lang="en-US" altLang="zh-CN"/>
          </a:p>
          <a:p>
            <a:r>
              <a:rPr lang="zh-CN" altLang="en-US"/>
              <a:t>出电流值最大时的频率，即为该电路的谐振频率，即可计算出对应电感</a:t>
            </a:r>
            <a:endParaRPr lang="en-US" altLang="zh-CN"/>
          </a:p>
          <a:p>
            <a:r>
              <a:rPr lang="zh-CN" altLang="en-US"/>
              <a:t>的感值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注意：</a:t>
            </a:r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该方案对</a:t>
            </a:r>
            <a:r>
              <a:rPr lang="en-US" altLang="zh-CN"/>
              <a:t>DDS</a:t>
            </a:r>
            <a:r>
              <a:rPr lang="zh-CN" altLang="en-US"/>
              <a:t>要求较高，至少输出</a:t>
            </a:r>
            <a:r>
              <a:rPr lang="en-US" altLang="zh-CN"/>
              <a:t>5Mhz</a:t>
            </a:r>
            <a:r>
              <a:rPr lang="zh-CN" altLang="en-US"/>
              <a:t>正弦波不失真，</a:t>
            </a:r>
            <a:r>
              <a:rPr lang="en-US" altLang="zh-CN"/>
              <a:t>9833</a:t>
            </a:r>
            <a:r>
              <a:rPr lang="zh-CN" altLang="en-US"/>
              <a:t>应该用不</a:t>
            </a:r>
            <a:endParaRPr lang="en-US" altLang="zh-CN"/>
          </a:p>
          <a:p>
            <a:r>
              <a:rPr lang="zh-CN" altLang="en-US"/>
              <a:t>了，有</a:t>
            </a:r>
            <a:r>
              <a:rPr lang="en-US" altLang="zh-CN"/>
              <a:t>9959</a:t>
            </a:r>
            <a:r>
              <a:rPr lang="zh-CN" altLang="en-US"/>
              <a:t>的可以尝试这个方案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幅度检测最好使用</a:t>
            </a:r>
            <a:r>
              <a:rPr lang="en-US" altLang="zh-CN"/>
              <a:t>AD8302</a:t>
            </a:r>
            <a:r>
              <a:rPr lang="zh-CN" altLang="en-US"/>
              <a:t>，十分方便，直接</a:t>
            </a:r>
            <a:r>
              <a:rPr lang="en-US" altLang="zh-CN"/>
              <a:t>ADC</a:t>
            </a:r>
            <a:r>
              <a:rPr lang="zh-CN" altLang="en-US"/>
              <a:t>采集也可以进行分析，</a:t>
            </a:r>
            <a:endParaRPr lang="en-US" altLang="zh-CN"/>
          </a:p>
          <a:p>
            <a:r>
              <a:rPr lang="zh-CN" altLang="en-US"/>
              <a:t>不过软件稍微麻烦一些</a:t>
            </a:r>
            <a:endParaRPr lang="en-US" altLang="zh-CN"/>
          </a:p>
          <a:p>
            <a:r>
              <a:rPr lang="en-US" altLang="zh-CN"/>
              <a:t>3.</a:t>
            </a:r>
            <a:r>
              <a:rPr lang="zh-CN" altLang="en-US"/>
              <a:t>测量接口同样使用开尔文夹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F216A6-04F7-F99E-4547-762A89159252}"/>
              </a:ext>
            </a:extLst>
          </p:cNvPr>
          <p:cNvSpPr txBox="1"/>
          <p:nvPr/>
        </p:nvSpPr>
        <p:spPr>
          <a:xfrm>
            <a:off x="4504525" y="990054"/>
            <a:ext cx="318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二、电感测量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47615F-B8C8-5959-C753-1A3C5566F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910" y="1649028"/>
            <a:ext cx="4328863" cy="323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48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5507-76A6-2C4A-900C-A7EA57C43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8C9210B-F820-1DD6-5E1A-B49678A4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三、方案分析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DD2E47-85FD-21F7-4277-952AD0CE43FC}"/>
              </a:ext>
            </a:extLst>
          </p:cNvPr>
          <p:cNvSpPr txBox="1"/>
          <p:nvPr/>
        </p:nvSpPr>
        <p:spPr>
          <a:xfrm>
            <a:off x="4504525" y="990054"/>
            <a:ext cx="318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二、电感测量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0E8469-47A2-2638-6F51-CE3491CB6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602" y="1520801"/>
            <a:ext cx="5674793" cy="533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607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77AF4-0AC0-B5E9-A454-BB52FCA70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4A160E8-B994-526D-FCC4-6594F3B5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四、</a:t>
            </a:r>
            <a:r>
              <a:rPr lang="en-US" altLang="zh-CN"/>
              <a:t>TI</a:t>
            </a:r>
            <a:r>
              <a:rPr lang="zh-CN" altLang="en-US"/>
              <a:t>官方方案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3C81995-4AA4-E087-FF70-F685A0EFAAD1}"/>
              </a:ext>
            </a:extLst>
          </p:cNvPr>
          <p:cNvSpPr txBox="1"/>
          <p:nvPr/>
        </p:nvSpPr>
        <p:spPr>
          <a:xfrm>
            <a:off x="741639" y="2733534"/>
            <a:ext cx="107087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	TI</a:t>
            </a:r>
            <a:r>
              <a:rPr lang="zh-CN" altLang="en-US"/>
              <a:t>的官网有一篇</a:t>
            </a:r>
            <a:r>
              <a:rPr lang="en-US" altLang="zh-CN">
                <a:hlinkClick r:id="rId3"/>
              </a:rPr>
              <a:t>LCR </a:t>
            </a:r>
            <a:r>
              <a:rPr lang="zh-CN" altLang="en-US">
                <a:hlinkClick r:id="rId3"/>
              </a:rPr>
              <a:t>仪表模拟前端参考设计 </a:t>
            </a:r>
            <a:r>
              <a:rPr lang="en-US" altLang="zh-CN">
                <a:hlinkClick r:id="rId3"/>
              </a:rPr>
              <a:t>(Rev. B) (ti.com.cn)</a:t>
            </a:r>
            <a:r>
              <a:rPr lang="zh-CN" altLang="en-US"/>
              <a:t>，理论上一套电路就可以满足电容与电感的测量，精度可以满足要求，对</a:t>
            </a:r>
            <a:r>
              <a:rPr lang="en-US" altLang="zh-CN"/>
              <a:t>DDS</a:t>
            </a:r>
            <a:r>
              <a:rPr lang="zh-CN" altLang="en-US"/>
              <a:t>的要求也不高，参考电阻与反馈电阻的更换是这个设计的核心，我们的光耦应该可以满足要求。有兴趣的可以完全按照这个方案做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E81C17-DF20-359B-428C-1EC314BF8052}"/>
              </a:ext>
            </a:extLst>
          </p:cNvPr>
          <p:cNvSpPr txBox="1"/>
          <p:nvPr/>
        </p:nvSpPr>
        <p:spPr>
          <a:xfrm>
            <a:off x="4504525" y="990054"/>
            <a:ext cx="3182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/>
              <a:t>通用</a:t>
            </a:r>
            <a:r>
              <a:rPr lang="en-US" altLang="zh-CN" sz="3200"/>
              <a:t>LCR</a:t>
            </a:r>
            <a:r>
              <a:rPr lang="zh-CN" altLang="en-US" sz="3200"/>
              <a:t>表设计</a:t>
            </a:r>
          </a:p>
        </p:txBody>
      </p:sp>
    </p:spTree>
    <p:extLst>
      <p:ext uri="{BB962C8B-B14F-4D97-AF65-F5344CB8AC3E}">
        <p14:creationId xmlns:p14="http://schemas.microsoft.com/office/powerpoint/2010/main" val="406083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1824</TotalTime>
  <Words>1207</Words>
  <Application>Microsoft Office PowerPoint</Application>
  <PresentationFormat>宽屏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PingFang SC</vt:lpstr>
      <vt:lpstr>等线</vt:lpstr>
      <vt:lpstr>仿宋</vt:lpstr>
      <vt:lpstr>微软雅黑</vt:lpstr>
      <vt:lpstr>Arial</vt:lpstr>
      <vt:lpstr>Calibri</vt:lpstr>
      <vt:lpstr>Calibri Light</vt:lpstr>
      <vt:lpstr>Times New Roman</vt:lpstr>
      <vt:lpstr>Office 主题</vt:lpstr>
      <vt:lpstr>PowerPoint 演示文稿</vt:lpstr>
      <vt:lpstr>一、题目要求</vt:lpstr>
      <vt:lpstr>一、题目要求</vt:lpstr>
      <vt:lpstr>二、难点分析</vt:lpstr>
      <vt:lpstr>三、方案分析</vt:lpstr>
      <vt:lpstr>三、方案分析</vt:lpstr>
      <vt:lpstr>三、方案分析</vt:lpstr>
      <vt:lpstr>三、方案分析</vt:lpstr>
      <vt:lpstr>三、方案分析</vt:lpstr>
      <vt:lpstr>三、方案分析</vt:lpstr>
      <vt:lpstr>四、TI官方方案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dengchunhua@hust.edu.cn</dc:creator>
  <cp:lastModifiedBy>mikoto misaka</cp:lastModifiedBy>
  <cp:revision>2304</cp:revision>
  <cp:lastPrinted>2021-11-17T07:39:00Z</cp:lastPrinted>
  <dcterms:created xsi:type="dcterms:W3CDTF">2017-01-03T09:21:00Z</dcterms:created>
  <dcterms:modified xsi:type="dcterms:W3CDTF">2025-02-07T08:32:11Z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2052-11.8.6.8556</vt:lpwstr>
  </property>
</Properties>
</file>