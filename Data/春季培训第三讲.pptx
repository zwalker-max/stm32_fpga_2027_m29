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625" r:id="rId3"/>
    <p:sldId id="670" r:id="rId4"/>
    <p:sldId id="671" r:id="rId5"/>
    <p:sldId id="659" r:id="rId6"/>
    <p:sldId id="672" r:id="rId7"/>
  </p:sldIdLst>
  <p:sldSz cx="12192000" cy="6858000"/>
  <p:notesSz cx="6797675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ngxin he" initials="hh" lastIdx="1" clrIdx="0"/>
  <p:cmAuthor id="2" name="dengchunhua@hust.edu.cn" initials="d" lastIdx="1" clrIdx="1"/>
  <p:cmAuthor id="3" name="zhangh" initials="z" lastIdx="0" clrIdx="2"/>
  <p:cmAuthor id="4" name="rory" initials="r" lastIdx="1" clrIdx="3">
    <p:extLst>
      <p:ext uri="{19B8F6BF-5375-455C-9EA6-DF929625EA0E}">
        <p15:presenceInfo xmlns:p15="http://schemas.microsoft.com/office/powerpoint/2012/main" userId="ro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  <a:srgbClr val="548BDC"/>
    <a:srgbClr val="0099FF"/>
    <a:srgbClr val="9933FF"/>
    <a:srgbClr val="315B2F"/>
    <a:srgbClr val="FF0066"/>
    <a:srgbClr val="FF3399"/>
    <a:srgbClr val="66FF33"/>
    <a:srgbClr val="0000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52" autoAdjust="0"/>
    <p:restoredTop sz="82473" autoAdjust="0"/>
  </p:normalViewPr>
  <p:slideViewPr>
    <p:cSldViewPr snapToGrid="0">
      <p:cViewPr varScale="1">
        <p:scale>
          <a:sx n="91" d="100"/>
          <a:sy n="91" d="100"/>
        </p:scale>
        <p:origin x="4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7EBF0-E8F7-49ED-854D-6EAC1668934A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ABE42-4FE0-4666-B7C9-82FA60E3C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709B5-BCA3-4BE5-B10C-186128433F84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0B29BC-EAC3-4B58-83D7-867CA2B6A3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B29BC-EAC3-4B58-83D7-867CA2B6A39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4DFF1-3E7A-EF6C-4EA5-94A622B33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F69A64-0119-C4FF-3EEE-7F75EA657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FE38A99-A411-1E58-5387-77C423942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649020-5DC8-5906-51A5-A46D07EC5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433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928B2-A59A-AE97-AD3E-16669D6EC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2D38BE-0C5F-6397-5590-874CAD42B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13D715-F616-5574-C366-CE8C38F57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F8F2AC-E74A-F2A6-C9DC-8FE5323D52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687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F284F-783B-4FFD-EB20-61E1F2A1A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148A8E-995D-923E-B9D3-ED2A8C0FC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93BB33-2536-6133-F0C1-1E7034336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756A09-48DA-75EB-BC92-A53B1FDF3B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7567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D595A-7297-E500-E2D1-A4C7E5609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1371140-B61B-A6C9-BCBC-65D6592AA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CB2550-1236-229D-EC10-7A8E87815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2846FB-C18A-2822-68B7-510CCF3348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1056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956247"/>
            <a:ext cx="12192000" cy="12361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noFill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904974"/>
            <a:ext cx="12192000" cy="7308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7" descr="148550.gif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1909"/>
            <a:ext cx="1631491" cy="79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平行四边形 6"/>
          <p:cNvSpPr/>
          <p:nvPr userDrawn="1"/>
        </p:nvSpPr>
        <p:spPr>
          <a:xfrm>
            <a:off x="2380889" y="737999"/>
            <a:ext cx="9811112" cy="126599"/>
          </a:xfrm>
          <a:prstGeom prst="parallelogram">
            <a:avLst>
              <a:gd name="adj" fmla="val 9903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平行四边形 7"/>
          <p:cNvSpPr/>
          <p:nvPr userDrawn="1"/>
        </p:nvSpPr>
        <p:spPr>
          <a:xfrm>
            <a:off x="1675972" y="738000"/>
            <a:ext cx="720000" cy="90000"/>
          </a:xfrm>
          <a:prstGeom prst="parallelogram">
            <a:avLst>
              <a:gd name="adj" fmla="val 99032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平行四边形 8"/>
          <p:cNvSpPr/>
          <p:nvPr userDrawn="1"/>
        </p:nvSpPr>
        <p:spPr>
          <a:xfrm>
            <a:off x="0" y="738000"/>
            <a:ext cx="1682878" cy="126598"/>
          </a:xfrm>
          <a:prstGeom prst="parallelogram">
            <a:avLst>
              <a:gd name="adj" fmla="val 9903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Rectangle 6"/>
          <p:cNvSpPr>
            <a:spLocks noChangeArrowheads="1"/>
          </p:cNvSpPr>
          <p:nvPr userDrawn="1"/>
        </p:nvSpPr>
        <p:spPr bwMode="auto">
          <a:xfrm>
            <a:off x="0" y="108001"/>
            <a:ext cx="12192000" cy="684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5000"/>
              </a:lnSpc>
            </a:pPr>
            <a:endParaRPr lang="en-US" altLang="zh-CN" sz="3200">
              <a:solidFill>
                <a:srgbClr val="0070C0"/>
              </a:solidFill>
              <a:effectLst>
                <a:outerShdw blurRad="25400" dist="25400" dir="2700000" algn="tl">
                  <a:srgbClr val="000000">
                    <a:alpha val="60000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36000"/>
            <a:ext cx="12192000" cy="720000"/>
          </a:xfrm>
        </p:spPr>
        <p:txBody>
          <a:bodyPr>
            <a:noAutofit/>
          </a:bodyPr>
          <a:lstStyle>
            <a:lvl1pPr algn="ctr">
              <a:defRPr sz="2800" b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15E12-E1AF-4085-A7A4-DC9946A0F4CC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498571" y="1486066"/>
            <a:ext cx="9194858" cy="2948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5000"/>
              </a:lnSpc>
            </a:pPr>
            <a:r>
              <a:rPr lang="en-US" altLang="zh-CN" sz="6000" dirty="0">
                <a:solidFill>
                  <a:srgbClr val="0070C0"/>
                </a:solidFill>
                <a:effectLst>
                  <a:outerShdw blurRad="25400" dist="25400" dir="2700000" algn="tl">
                    <a:srgbClr val="000000">
                      <a:alpha val="60000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TI MSPM0</a:t>
            </a:r>
            <a:r>
              <a:rPr lang="zh-CN" altLang="en-US" sz="6000" dirty="0">
                <a:solidFill>
                  <a:srgbClr val="0070C0"/>
                </a:solidFill>
                <a:effectLst>
                  <a:outerShdw blurRad="25400" dist="25400" dir="2700000" algn="tl">
                    <a:srgbClr val="000000">
                      <a:alpha val="60000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入门</a:t>
            </a:r>
            <a:endParaRPr lang="en-US" altLang="zh-CN" sz="6000" dirty="0">
              <a:solidFill>
                <a:srgbClr val="0070C0"/>
              </a:solidFill>
              <a:effectLst>
                <a:outerShdw blurRad="25400" dist="25400" dir="2700000" algn="tl">
                  <a:srgbClr val="000000">
                    <a:alpha val="60000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35000"/>
              </a:lnSpc>
            </a:pPr>
            <a:r>
              <a:rPr lang="zh-CN" altLang="en-US" sz="2800">
                <a:solidFill>
                  <a:srgbClr val="0070C0"/>
                </a:solidFill>
                <a:effectLst>
                  <a:outerShdw blurRad="25400" dist="25400" dir="2700000" algn="tl">
                    <a:srgbClr val="000000">
                      <a:alpha val="60000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基础外设入门</a:t>
            </a:r>
            <a:endParaRPr lang="en-US" altLang="zh-CN" sz="2800" dirty="0">
              <a:solidFill>
                <a:srgbClr val="FF0000"/>
              </a:solidFill>
              <a:effectLst>
                <a:outerShdw blurRad="25400" dist="25400" dir="2700000" algn="tl">
                  <a:srgbClr val="000000">
                    <a:alpha val="60000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12"/>
          <p:cNvSpPr txBox="1">
            <a:spLocks noChangeArrowheads="1"/>
          </p:cNvSpPr>
          <p:nvPr/>
        </p:nvSpPr>
        <p:spPr bwMode="auto">
          <a:xfrm>
            <a:off x="4465320" y="4768109"/>
            <a:ext cx="438912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1pPr>
            <a:lvl2pPr marL="742950" indent="-285750"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2pPr>
            <a:lvl3pPr marL="1143000" indent="-228600"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3pPr>
            <a:lvl4pPr marL="1600200" indent="-228600"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4pPr>
            <a:lvl5pPr marL="2057400" indent="-228600"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1559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主讲人：汪源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F9AD8CC-410E-4AF5-8AF3-2E3DC77DC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一、</a:t>
            </a:r>
            <a:r>
              <a:rPr lang="en-US" altLang="zh-CN"/>
              <a:t>DAC</a:t>
            </a:r>
            <a:r>
              <a:rPr lang="zh-CN" altLang="en-US"/>
              <a:t>教程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90C1398-380A-482D-BC4A-EF665EB65585}"/>
              </a:ext>
            </a:extLst>
          </p:cNvPr>
          <p:cNvSpPr txBox="1"/>
          <p:nvPr/>
        </p:nvSpPr>
        <p:spPr>
          <a:xfrm>
            <a:off x="177416" y="858559"/>
            <a:ext cx="10764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1.</a:t>
            </a:r>
            <a:r>
              <a:rPr lang="zh-CN" altLang="en-US"/>
              <a:t>非定时器</a:t>
            </a:r>
            <a:r>
              <a:rPr lang="en-US" altLang="zh-CN"/>
              <a:t>DMA+DAC</a:t>
            </a:r>
            <a:r>
              <a:rPr lang="zh-CN" altLang="en-US"/>
              <a:t>的</a:t>
            </a:r>
            <a:r>
              <a:rPr lang="en-US" altLang="zh-CN"/>
              <a:t>Sysconfig</a:t>
            </a:r>
            <a:r>
              <a:rPr lang="zh-CN" altLang="en-US"/>
              <a:t>配置</a:t>
            </a:r>
            <a:endParaRPr lang="en-US" altLang="zh-CN" dirty="0"/>
          </a:p>
          <a:p>
            <a:r>
              <a:rPr lang="zh-CN" altLang="en-US">
                <a:latin typeface="Roboto" panose="020B0604020202020204" pitchFamily="2" charset="0"/>
              </a:rPr>
              <a:t>使能</a:t>
            </a:r>
            <a:r>
              <a:rPr lang="en-US" altLang="zh-CN">
                <a:latin typeface="Roboto" panose="020B0604020202020204" pitchFamily="2" charset="0"/>
              </a:rPr>
              <a:t>DAC</a:t>
            </a:r>
            <a:r>
              <a:rPr lang="zh-CN" altLang="en-US">
                <a:latin typeface="Roboto" panose="020B0604020202020204" pitchFamily="2" charset="0"/>
              </a:rPr>
              <a:t>，</a:t>
            </a:r>
            <a:r>
              <a:rPr lang="en-US" altLang="zh-CN" b="0" i="0">
                <a:effectLst/>
                <a:latin typeface="Roboto" panose="02000000000000000000" pitchFamily="2" charset="0"/>
              </a:rPr>
              <a:t>Positive Voltage Reference 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与</a:t>
            </a:r>
            <a:r>
              <a:rPr lang="en-US" altLang="zh-CN" b="0" i="0">
                <a:effectLst/>
                <a:latin typeface="Roboto" panose="02000000000000000000" pitchFamily="2" charset="0"/>
              </a:rPr>
              <a:t>Negative Voltage Reference</a:t>
            </a:r>
          </a:p>
          <a:p>
            <a:r>
              <a:rPr lang="zh-CN" altLang="en-US">
                <a:latin typeface="Roboto" panose="02000000000000000000" pitchFamily="2" charset="0"/>
              </a:rPr>
              <a:t>根据自己的需求选择，</a:t>
            </a:r>
            <a:r>
              <a:rPr lang="en-US" altLang="zh-CN" b="0" i="0">
                <a:effectLst/>
                <a:latin typeface="Roboto" panose="02000000000000000000" pitchFamily="2" charset="0"/>
              </a:rPr>
              <a:t> 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可以选择</a:t>
            </a:r>
            <a:r>
              <a:rPr lang="en-US" altLang="zh-CN" b="0" i="0">
                <a:effectLst/>
                <a:latin typeface="Roboto" panose="02000000000000000000" pitchFamily="2" charset="0"/>
              </a:rPr>
              <a:t>VREF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或连接到模拟供电上</a:t>
            </a:r>
            <a:endParaRPr lang="en-US" altLang="zh-CN" b="0" i="0">
              <a:effectLst/>
              <a:latin typeface="Roboto" panose="02000000000000000000" pitchFamily="2" charset="0"/>
            </a:endParaRPr>
          </a:p>
          <a:p>
            <a:endParaRPr lang="en-US" altLang="zh-CN">
              <a:latin typeface="Roboto" panose="02000000000000000000" pitchFamily="2" charset="0"/>
            </a:endParaRPr>
          </a:p>
          <a:p>
            <a:r>
              <a:rPr lang="zh-CN" altLang="en-US">
                <a:latin typeface="Roboto" panose="02000000000000000000" pitchFamily="2" charset="0"/>
              </a:rPr>
              <a:t>使能</a:t>
            </a:r>
            <a:r>
              <a:rPr lang="en-US" altLang="zh-CN">
                <a:latin typeface="Roboto" panose="02000000000000000000" pitchFamily="2" charset="0"/>
              </a:rPr>
              <a:t>FIFO</a:t>
            </a:r>
          </a:p>
          <a:p>
            <a:r>
              <a:rPr lang="en-US" altLang="zh-CN" b="0" i="0">
                <a:effectLst/>
                <a:latin typeface="Roboto" panose="02000000000000000000" pitchFamily="2" charset="0"/>
              </a:rPr>
              <a:t>FIFO Trigger Source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：选择</a:t>
            </a:r>
            <a:r>
              <a:rPr lang="en-US" altLang="zh-CN" b="0" i="0">
                <a:effectLst/>
                <a:latin typeface="Roboto" panose="02000000000000000000" pitchFamily="2" charset="0"/>
              </a:rPr>
              <a:t>Sample time generator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，这里我们先学习</a:t>
            </a:r>
            <a:endParaRPr lang="en-US" altLang="zh-CN" b="0" i="0">
              <a:effectLst/>
              <a:latin typeface="Roboto" panose="02000000000000000000" pitchFamily="2" charset="0"/>
            </a:endParaRPr>
          </a:p>
          <a:p>
            <a:r>
              <a:rPr lang="zh-CN" altLang="en-US">
                <a:latin typeface="Roboto" panose="02000000000000000000" pitchFamily="2" charset="0"/>
              </a:rPr>
              <a:t>不使用定时器触发的</a:t>
            </a:r>
            <a:r>
              <a:rPr lang="en-US" altLang="zh-CN">
                <a:latin typeface="Roboto" panose="02000000000000000000" pitchFamily="2" charset="0"/>
              </a:rPr>
              <a:t>DAC</a:t>
            </a:r>
            <a:r>
              <a:rPr lang="zh-CN" altLang="en-US">
                <a:latin typeface="Roboto" panose="02000000000000000000" pitchFamily="2" charset="0"/>
              </a:rPr>
              <a:t>，只有</a:t>
            </a:r>
            <a:r>
              <a:rPr lang="en-US" altLang="zh-CN">
                <a:latin typeface="Roboto" panose="02000000000000000000" pitchFamily="2" charset="0"/>
              </a:rPr>
              <a:t>DMA</a:t>
            </a:r>
            <a:r>
              <a:rPr lang="zh-CN" altLang="en-US">
                <a:latin typeface="Roboto" panose="02000000000000000000" pitchFamily="2" charset="0"/>
              </a:rPr>
              <a:t>配合，所以触发源选择这个</a:t>
            </a:r>
            <a:endParaRPr lang="en-US" altLang="zh-CN">
              <a:latin typeface="Roboto" panose="02000000000000000000" pitchFamily="2" charset="0"/>
            </a:endParaRPr>
          </a:p>
          <a:p>
            <a:endParaRPr lang="en-US" altLang="zh-CN">
              <a:latin typeface="Roboto" panose="02000000000000000000" pitchFamily="2" charset="0"/>
            </a:endParaRPr>
          </a:p>
          <a:p>
            <a:r>
              <a:rPr lang="zh-CN" altLang="en-US">
                <a:latin typeface="Roboto" panose="02000000000000000000" pitchFamily="2" charset="0"/>
              </a:rPr>
              <a:t>配置</a:t>
            </a:r>
            <a:r>
              <a:rPr lang="en-US" altLang="zh-CN">
                <a:latin typeface="Roboto" panose="02000000000000000000" pitchFamily="2" charset="0"/>
              </a:rPr>
              <a:t>DMA</a:t>
            </a:r>
            <a:r>
              <a:rPr lang="zh-CN" altLang="en-US">
                <a:latin typeface="Roboto" panose="02000000000000000000" pitchFamily="2" charset="0"/>
              </a:rPr>
              <a:t>触发源，给</a:t>
            </a:r>
            <a:r>
              <a:rPr lang="en-US" altLang="zh-CN">
                <a:latin typeface="Roboto" panose="02000000000000000000" pitchFamily="2" charset="0"/>
              </a:rPr>
              <a:t>DMA</a:t>
            </a:r>
            <a:r>
              <a:rPr lang="zh-CN" altLang="en-US">
                <a:latin typeface="Roboto" panose="02000000000000000000" pitchFamily="2" charset="0"/>
              </a:rPr>
              <a:t>通道命名，根据图中配置地址模式、传输数</a:t>
            </a:r>
            <a:endParaRPr lang="en-US" altLang="zh-CN">
              <a:latin typeface="Roboto" panose="02000000000000000000" pitchFamily="2" charset="0"/>
            </a:endParaRPr>
          </a:p>
          <a:p>
            <a:r>
              <a:rPr lang="zh-CN" altLang="en-US">
                <a:latin typeface="Roboto" panose="02000000000000000000" pitchFamily="2" charset="0"/>
              </a:rPr>
              <a:t>据长度，地址自增方向，传输模式等</a:t>
            </a:r>
            <a:endParaRPr lang="en-US" altLang="zh-CN">
              <a:latin typeface="Roboto" panose="02000000000000000000" pitchFamily="2" charset="0"/>
            </a:endParaRPr>
          </a:p>
          <a:p>
            <a:r>
              <a:rPr lang="zh-CN" altLang="en-US">
                <a:latin typeface="Roboto" panose="02000000000000000000" pitchFamily="2" charset="0"/>
              </a:rPr>
              <a:t>选择具体的</a:t>
            </a:r>
            <a:r>
              <a:rPr lang="en-US" altLang="zh-CN">
                <a:latin typeface="Roboto" panose="02000000000000000000" pitchFamily="2" charset="0"/>
              </a:rPr>
              <a:t>DMA</a:t>
            </a:r>
            <a:r>
              <a:rPr lang="zh-CN" altLang="en-US">
                <a:latin typeface="Roboto" panose="02000000000000000000" pitchFamily="2" charset="0"/>
              </a:rPr>
              <a:t>通道</a:t>
            </a:r>
            <a:endParaRPr lang="en-US" altLang="zh-CN">
              <a:latin typeface="Roboto" panose="02000000000000000000" pitchFamily="2" charset="0"/>
            </a:endParaRPr>
          </a:p>
          <a:p>
            <a:endParaRPr lang="en-US" altLang="zh-CN">
              <a:latin typeface="Roboto" panose="020B0604020202020204" pitchFamily="2" charset="0"/>
            </a:endParaRPr>
          </a:p>
          <a:p>
            <a:endParaRPr lang="en-US" altLang="zh-CN" dirty="0">
              <a:latin typeface="Roboto" panose="020B0604020202020204" pitchFamily="2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8B388DF-E5D8-C747-4318-97B5B9A73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278" y="858560"/>
            <a:ext cx="4824961" cy="51408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F3EA4-C6B3-B3B1-A824-B19169FCC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CC518EEC-4DA4-00CE-14BB-F4395973D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一、</a:t>
            </a:r>
            <a:r>
              <a:rPr lang="en-US" altLang="zh-CN"/>
              <a:t>DAC</a:t>
            </a:r>
            <a:r>
              <a:rPr lang="zh-CN" altLang="en-US"/>
              <a:t>教程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8FE9A4A-C005-97A0-AE7D-2BFBB480D947}"/>
              </a:ext>
            </a:extLst>
          </p:cNvPr>
          <p:cNvSpPr txBox="1"/>
          <p:nvPr/>
        </p:nvSpPr>
        <p:spPr>
          <a:xfrm>
            <a:off x="177416" y="858559"/>
            <a:ext cx="10764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1.</a:t>
            </a:r>
            <a:r>
              <a:rPr lang="zh-CN" altLang="en-US"/>
              <a:t>非定时器</a:t>
            </a:r>
            <a:r>
              <a:rPr lang="en-US" altLang="zh-CN"/>
              <a:t>DMA+DAC</a:t>
            </a:r>
            <a:r>
              <a:rPr lang="zh-CN" altLang="en-US"/>
              <a:t>的</a:t>
            </a:r>
            <a:r>
              <a:rPr lang="en-US" altLang="zh-CN"/>
              <a:t>Sysconfig</a:t>
            </a:r>
            <a:r>
              <a:rPr lang="zh-CN" altLang="en-US"/>
              <a:t>配置</a:t>
            </a:r>
            <a:endParaRPr lang="en-US" altLang="zh-CN" dirty="0"/>
          </a:p>
          <a:p>
            <a:r>
              <a:rPr lang="en-US" altLang="zh-CN" b="0" i="0">
                <a:effectLst/>
                <a:latin typeface="Roboto" panose="02000000000000000000" pitchFamily="2" charset="0"/>
              </a:rPr>
              <a:t>FIFO Threshold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：选择</a:t>
            </a:r>
            <a:r>
              <a:rPr lang="en-US" altLang="zh-CN" b="0" i="0">
                <a:effectLst/>
                <a:latin typeface="Roboto" panose="02000000000000000000" pitchFamily="2" charset="0"/>
              </a:rPr>
              <a:t>2/4th of locations are empty</a:t>
            </a:r>
            <a:r>
              <a:rPr lang="zh-CN" altLang="en-US" b="0" i="0">
                <a:effectLst/>
                <a:latin typeface="Roboto" panose="020B0604020202020204" pitchFamily="2" charset="0"/>
              </a:rPr>
              <a:t>，我也不知道为什</a:t>
            </a:r>
            <a:endParaRPr lang="en-US" altLang="zh-CN" b="0" i="0">
              <a:effectLst/>
              <a:latin typeface="Roboto" panose="020B0604020202020204" pitchFamily="2" charset="0"/>
            </a:endParaRPr>
          </a:p>
          <a:p>
            <a:r>
              <a:rPr lang="zh-CN" altLang="en-US" b="0" i="0">
                <a:effectLst/>
                <a:latin typeface="Roboto" panose="020B0604020202020204" pitchFamily="2" charset="0"/>
              </a:rPr>
              <a:t>么要选择这个，总之根据官方配置来</a:t>
            </a:r>
            <a:endParaRPr lang="en-US" altLang="zh-CN" b="0" i="0">
              <a:effectLst/>
              <a:latin typeface="Roboto" panose="020B0604020202020204" pitchFamily="2" charset="0"/>
            </a:endParaRPr>
          </a:p>
          <a:p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使能采样时间生成器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 b="0" i="0">
                <a:effectLst/>
                <a:latin typeface="Roboto" panose="02000000000000000000" pitchFamily="2" charset="0"/>
              </a:rPr>
              <a:t>Sample Time Generator Rate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：根据需求选择，这就是</a:t>
            </a:r>
            <a:r>
              <a:rPr lang="en-US" altLang="zh-CN" b="0" i="0">
                <a:effectLst/>
                <a:latin typeface="Roboto" panose="02000000000000000000" pitchFamily="2" charset="0"/>
              </a:rPr>
              <a:t>DAC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输出速率，</a:t>
            </a:r>
            <a:endParaRPr lang="en-US" altLang="zh-CN" b="0" i="0">
              <a:effectLst/>
              <a:latin typeface="Roboto" panose="02000000000000000000" pitchFamily="2" charset="0"/>
            </a:endParaRPr>
          </a:p>
          <a:p>
            <a:r>
              <a:rPr lang="zh-CN" altLang="en-US">
                <a:latin typeface="Roboto" panose="02000000000000000000" pitchFamily="2" charset="0"/>
              </a:rPr>
              <a:t>最大</a:t>
            </a:r>
            <a:r>
              <a:rPr lang="en-US" altLang="zh-CN">
                <a:latin typeface="Roboto" panose="02000000000000000000" pitchFamily="2" charset="0"/>
              </a:rPr>
              <a:t>1M</a:t>
            </a:r>
            <a:r>
              <a:rPr lang="zh-CN" altLang="en-US">
                <a:latin typeface="Roboto" panose="02000000000000000000" pitchFamily="2" charset="0"/>
              </a:rPr>
              <a:t>，也许是</a:t>
            </a:r>
            <a:r>
              <a:rPr lang="en-US" altLang="zh-CN">
                <a:latin typeface="Roboto" panose="02000000000000000000" pitchFamily="2" charset="0"/>
              </a:rPr>
              <a:t>DAC</a:t>
            </a:r>
            <a:r>
              <a:rPr lang="zh-CN" altLang="en-US">
                <a:latin typeface="Roboto" panose="02000000000000000000" pitchFamily="2" charset="0"/>
              </a:rPr>
              <a:t>有专门的时钟用来采样，只能有固定的几种速率</a:t>
            </a:r>
            <a:endParaRPr lang="en-US" altLang="zh-CN">
              <a:latin typeface="Roboto" panose="02000000000000000000" pitchFamily="2" charset="0"/>
            </a:endParaRPr>
          </a:p>
          <a:p>
            <a:r>
              <a:rPr lang="zh-CN" altLang="en-US" b="0" i="0">
                <a:effectLst/>
                <a:latin typeface="Roboto" panose="02000000000000000000" pitchFamily="2" charset="0"/>
              </a:rPr>
              <a:t>去选择，</a:t>
            </a:r>
            <a:r>
              <a:rPr lang="en-US" altLang="zh-CN" b="0" i="0">
                <a:effectLst/>
                <a:latin typeface="Roboto" panose="02000000000000000000" pitchFamily="2" charset="0"/>
              </a:rPr>
              <a:t>DMA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也会根据这个速率去搬运数据</a:t>
            </a:r>
            <a:endParaRPr lang="en-US" altLang="zh-CN" b="0" i="0">
              <a:effectLst/>
              <a:latin typeface="Roboto" panose="02000000000000000000" pitchFamily="2" charset="0"/>
            </a:endParaRPr>
          </a:p>
          <a:p>
            <a:endParaRPr lang="en-US" altLang="zh-CN">
              <a:latin typeface="Roboto" panose="02000000000000000000" pitchFamily="2" charset="0"/>
            </a:endParaRPr>
          </a:p>
          <a:p>
            <a:r>
              <a:rPr lang="zh-CN" altLang="en-US">
                <a:latin typeface="Roboto" panose="02000000000000000000" pitchFamily="2" charset="0"/>
              </a:rPr>
              <a:t>使能</a:t>
            </a:r>
            <a:r>
              <a:rPr lang="en-US" altLang="zh-CN">
                <a:latin typeface="Roboto" panose="02000000000000000000" pitchFamily="2" charset="0"/>
              </a:rPr>
              <a:t>DAC</a:t>
            </a:r>
            <a:r>
              <a:rPr lang="zh-CN" altLang="en-US">
                <a:latin typeface="Roboto" panose="02000000000000000000" pitchFamily="2" charset="0"/>
              </a:rPr>
              <a:t>输出，设置默认输出电压，一般设为</a:t>
            </a:r>
            <a:r>
              <a:rPr lang="en-US" altLang="zh-CN">
                <a:latin typeface="Roboto" panose="02000000000000000000" pitchFamily="2" charset="0"/>
              </a:rPr>
              <a:t>0</a:t>
            </a:r>
          </a:p>
          <a:p>
            <a:r>
              <a:rPr lang="zh-CN" altLang="en-US" b="0" i="0">
                <a:effectLst/>
                <a:latin typeface="Roboto" panose="02000000000000000000" pitchFamily="2" charset="0"/>
              </a:rPr>
              <a:t>配置</a:t>
            </a:r>
            <a:r>
              <a:rPr lang="en-US" altLang="zh-CN" b="0" i="0">
                <a:effectLst/>
                <a:latin typeface="Roboto" panose="02000000000000000000" pitchFamily="2" charset="0"/>
              </a:rPr>
              <a:t>DAC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的位数，数据格式等，</a:t>
            </a:r>
            <a:r>
              <a:rPr lang="en-US" altLang="zh-CN" b="0" i="0">
                <a:effectLst/>
                <a:latin typeface="Roboto" panose="02000000000000000000" pitchFamily="2" charset="0"/>
              </a:rPr>
              <a:t>DAC And Output Amplifer 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一定要选择</a:t>
            </a:r>
            <a:endParaRPr lang="en-US" altLang="zh-CN" b="0" i="0">
              <a:effectLst/>
              <a:latin typeface="Roboto" panose="02000000000000000000" pitchFamily="2" charset="0"/>
            </a:endParaRPr>
          </a:p>
          <a:p>
            <a:r>
              <a:rPr lang="en-US" altLang="zh-CN" b="0" i="0">
                <a:effectLst/>
                <a:latin typeface="Roboto" panose="02000000000000000000" pitchFamily="2" charset="0"/>
              </a:rPr>
              <a:t> Output and Input amplifiers on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，否则无输出</a:t>
            </a:r>
            <a:endParaRPr lang="en-US" altLang="zh-CN" b="0" i="0">
              <a:effectLst/>
              <a:latin typeface="Roboto" panose="02000000000000000000" pitchFamily="2" charset="0"/>
            </a:endParaRPr>
          </a:p>
          <a:p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中断选择</a:t>
            </a:r>
            <a:r>
              <a:rPr lang="en-US" altLang="zh-CN">
                <a:latin typeface="Roboto" panose="020B0604020202020204" pitchFamily="2" charset="0"/>
              </a:rPr>
              <a:t>DMA</a:t>
            </a:r>
            <a:r>
              <a:rPr lang="zh-CN" altLang="en-US">
                <a:latin typeface="Roboto" panose="020B0604020202020204" pitchFamily="2" charset="0"/>
              </a:rPr>
              <a:t>传输完成中断，在一个</a:t>
            </a:r>
            <a:r>
              <a:rPr lang="en-US" altLang="zh-CN">
                <a:latin typeface="Roboto" panose="020B0604020202020204" pitchFamily="2" charset="0"/>
              </a:rPr>
              <a:t>DMA</a:t>
            </a:r>
            <a:r>
              <a:rPr lang="zh-CN" altLang="en-US">
                <a:latin typeface="Roboto" panose="020B0604020202020204" pitchFamily="2" charset="0"/>
              </a:rPr>
              <a:t>序列传输完成后进入中断，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如果没有需求也可以不开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最后选择具体外设</a:t>
            </a:r>
            <a:endParaRPr lang="en-US" altLang="zh-CN">
              <a:latin typeface="Roboto" panose="020B0604020202020204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594C1DE-0205-F128-1699-5D6F0C103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717" y="858559"/>
            <a:ext cx="4916283" cy="470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916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35572-25F1-CC2A-BFF6-406DA7214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50B9844-3C69-2767-F2AD-83BAC6BEC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一、</a:t>
            </a:r>
            <a:r>
              <a:rPr lang="en-US" altLang="zh-CN"/>
              <a:t>DAC</a:t>
            </a:r>
            <a:r>
              <a:rPr lang="zh-CN" altLang="en-US"/>
              <a:t>教程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03B6437-816F-6B93-20E8-5A2D6D07AE54}"/>
              </a:ext>
            </a:extLst>
          </p:cNvPr>
          <p:cNvSpPr txBox="1"/>
          <p:nvPr/>
        </p:nvSpPr>
        <p:spPr>
          <a:xfrm>
            <a:off x="177416" y="858559"/>
            <a:ext cx="107640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2.</a:t>
            </a:r>
            <a:r>
              <a:rPr lang="zh-CN" altLang="en-US"/>
              <a:t>定时器触发的</a:t>
            </a:r>
            <a:r>
              <a:rPr lang="en-US" altLang="zh-CN"/>
              <a:t>DMA+DAC</a:t>
            </a:r>
            <a:r>
              <a:rPr lang="zh-CN" altLang="en-US"/>
              <a:t>的</a:t>
            </a:r>
            <a:r>
              <a:rPr lang="en-US" altLang="zh-CN"/>
              <a:t>Sysconfig</a:t>
            </a:r>
            <a:r>
              <a:rPr lang="zh-CN" altLang="en-US"/>
              <a:t>配置</a:t>
            </a:r>
            <a:endParaRPr lang="en-US" altLang="zh-CN" dirty="0"/>
          </a:p>
          <a:p>
            <a:r>
              <a:rPr lang="en-US" altLang="zh-CN" b="0" i="0">
                <a:effectLst/>
                <a:latin typeface="Roboto" panose="02000000000000000000" pitchFamily="2" charset="0"/>
              </a:rPr>
              <a:t>FIFO Trigger Source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：选择</a:t>
            </a:r>
            <a:r>
              <a:rPr lang="en-US" altLang="zh-CN" b="0" i="0">
                <a:effectLst/>
                <a:latin typeface="Roboto" panose="02000000000000000000" pitchFamily="2" charset="0"/>
              </a:rPr>
              <a:t>Hardware trigger 0 event fabric</a:t>
            </a:r>
          </a:p>
          <a:p>
            <a:r>
              <a:rPr lang="zh-CN" altLang="en-US">
                <a:latin typeface="Roboto" panose="02000000000000000000" pitchFamily="2" charset="0"/>
              </a:rPr>
              <a:t>在</a:t>
            </a:r>
            <a:r>
              <a:rPr lang="en-US" altLang="zh-CN">
                <a:latin typeface="Roboto" panose="02000000000000000000" pitchFamily="2" charset="0"/>
              </a:rPr>
              <a:t>EVENT</a:t>
            </a:r>
            <a:r>
              <a:rPr lang="zh-CN" altLang="en-US">
                <a:latin typeface="Roboto" panose="02000000000000000000" pitchFamily="2" charset="0"/>
              </a:rPr>
              <a:t>的事件订阅者上订阅一个触发的定时器即可，其它的不用动。</a:t>
            </a:r>
            <a:endParaRPr lang="en-US" altLang="zh-CN">
              <a:latin typeface="Roboto" panose="02000000000000000000" pitchFamily="2" charset="0"/>
            </a:endParaRPr>
          </a:p>
          <a:p>
            <a:endParaRPr lang="en-US" altLang="zh-CN">
              <a:latin typeface="Roboto" panose="02000000000000000000" pitchFamily="2" charset="0"/>
            </a:endParaRPr>
          </a:p>
          <a:p>
            <a:r>
              <a:rPr lang="en-US" altLang="zh-CN">
                <a:latin typeface="Roboto" panose="02000000000000000000" pitchFamily="2" charset="0"/>
              </a:rPr>
              <a:t>3.</a:t>
            </a:r>
            <a:r>
              <a:rPr lang="zh-CN" altLang="en-US">
                <a:latin typeface="Roboto" panose="02000000000000000000" pitchFamily="2" charset="0"/>
              </a:rPr>
              <a:t>相关库函数</a:t>
            </a:r>
            <a:endParaRPr lang="en-US" altLang="zh-CN">
              <a:latin typeface="Roboto" panose="02000000000000000000" pitchFamily="2" charset="0"/>
            </a:endParaRPr>
          </a:p>
          <a:p>
            <a:r>
              <a:rPr lang="zh-CN" altLang="en-US">
                <a:latin typeface="Roboto" panose="02000000000000000000" pitchFamily="2" charset="0"/>
              </a:rPr>
              <a:t>使用</a:t>
            </a:r>
            <a:r>
              <a:rPr lang="en-US" altLang="zh-CN">
                <a:latin typeface="Roboto" panose="02000000000000000000" pitchFamily="2" charset="0"/>
              </a:rPr>
              <a:t>DMA+DAC</a:t>
            </a:r>
            <a:r>
              <a:rPr lang="zh-CN" altLang="en-US">
                <a:latin typeface="Roboto" panose="02000000000000000000" pitchFamily="2" charset="0"/>
              </a:rPr>
              <a:t>，只要配置好</a:t>
            </a:r>
            <a:r>
              <a:rPr lang="en-US" altLang="zh-CN">
                <a:latin typeface="Roboto" panose="02000000000000000000" pitchFamily="2" charset="0"/>
              </a:rPr>
              <a:t>DMA</a:t>
            </a:r>
            <a:r>
              <a:rPr lang="zh-CN" altLang="en-US">
                <a:latin typeface="Roboto" panose="02000000000000000000" pitchFamily="2" charset="0"/>
              </a:rPr>
              <a:t>的数据即可，配置完成后直接开始输出信号</a:t>
            </a:r>
            <a:endParaRPr lang="en-US" altLang="zh-CN">
              <a:latin typeface="Roboto" panose="02000000000000000000" pitchFamily="2" charset="0"/>
            </a:endParaRPr>
          </a:p>
          <a:p>
            <a:r>
              <a:rPr lang="en-US" altLang="zh-CN">
                <a:latin typeface="Roboto" panose="02000000000000000000" pitchFamily="2" charset="0"/>
              </a:rPr>
              <a:t>DMAConfig(DMA_DAC_CHAN_ID,(uint32_t)&amp;DACOut[0],(uint32_t) &amp; (DAC0-&gt;DATA0),DACLegth);</a:t>
            </a:r>
          </a:p>
          <a:p>
            <a:r>
              <a:rPr lang="en-US" altLang="zh-CN">
                <a:latin typeface="Roboto" panose="02000000000000000000" pitchFamily="2" charset="0"/>
              </a:rPr>
              <a:t>void DMAConfig(uint8_t channelNum, uint32_t srcAddr,uint32_t destAddr,uint16_t size)</a:t>
            </a:r>
          </a:p>
          <a:p>
            <a:r>
              <a:rPr lang="en-US" altLang="zh-CN">
                <a:latin typeface="Roboto" panose="02000000000000000000" pitchFamily="2" charset="0"/>
              </a:rPr>
              <a:t>{</a:t>
            </a:r>
          </a:p>
          <a:p>
            <a:r>
              <a:rPr lang="en-US" altLang="zh-CN">
                <a:latin typeface="Roboto" panose="02000000000000000000" pitchFamily="2" charset="0"/>
              </a:rPr>
              <a:t>    DL_DMA_setSrcAddr(DMA, channelNum, srcAddr);</a:t>
            </a:r>
          </a:p>
          <a:p>
            <a:r>
              <a:rPr lang="en-US" altLang="zh-CN">
                <a:latin typeface="Roboto" panose="02000000000000000000" pitchFamily="2" charset="0"/>
              </a:rPr>
              <a:t>    DL_DMA_setDestAddr(DMA, channelNum, destAddr);</a:t>
            </a:r>
          </a:p>
          <a:p>
            <a:r>
              <a:rPr lang="en-US" altLang="zh-CN">
                <a:latin typeface="Roboto" panose="02000000000000000000" pitchFamily="2" charset="0"/>
              </a:rPr>
              <a:t>    DL_DMA_setTransferSize(DMA,channelNum, size);</a:t>
            </a:r>
          </a:p>
          <a:p>
            <a:r>
              <a:rPr lang="en-US" altLang="zh-CN">
                <a:latin typeface="Roboto" panose="02000000000000000000" pitchFamily="2" charset="0"/>
              </a:rPr>
              <a:t>    DL_DMA_enableChannel(DMA, channelNum);</a:t>
            </a:r>
          </a:p>
          <a:p>
            <a:r>
              <a:rPr lang="en-US" altLang="zh-CN">
                <a:latin typeface="Roboto" panose="02000000000000000000" pitchFamily="2" charset="0"/>
              </a:rPr>
              <a:t>}</a:t>
            </a:r>
          </a:p>
          <a:p>
            <a:r>
              <a:rPr lang="zh-CN" altLang="en-US">
                <a:latin typeface="Roboto" panose="02000000000000000000" pitchFamily="2" charset="0"/>
              </a:rPr>
              <a:t>使用</a:t>
            </a:r>
            <a:r>
              <a:rPr lang="en-US" altLang="zh-CN">
                <a:latin typeface="Roboto" panose="02000000000000000000" pitchFamily="2" charset="0"/>
              </a:rPr>
              <a:t>TIM+DMA+DAC</a:t>
            </a:r>
            <a:r>
              <a:rPr lang="zh-CN" altLang="en-US">
                <a:latin typeface="Roboto" panose="02000000000000000000" pitchFamily="2" charset="0"/>
              </a:rPr>
              <a:t>，配置好</a:t>
            </a:r>
            <a:r>
              <a:rPr lang="en-US" altLang="zh-CN">
                <a:latin typeface="Roboto" panose="02000000000000000000" pitchFamily="2" charset="0"/>
              </a:rPr>
              <a:t>DMA</a:t>
            </a:r>
            <a:r>
              <a:rPr lang="zh-CN" altLang="en-US">
                <a:latin typeface="Roboto" panose="02000000000000000000" pitchFamily="2" charset="0"/>
              </a:rPr>
              <a:t>的数据后，额外启动定时器即可</a:t>
            </a:r>
            <a:endParaRPr lang="en-US" altLang="zh-CN">
              <a:latin typeface="Roboto" panose="02000000000000000000" pitchFamily="2" charset="0"/>
            </a:endParaRPr>
          </a:p>
          <a:p>
            <a:r>
              <a:rPr lang="en-US" altLang="zh-CN">
                <a:latin typeface="Roboto" panose="02000000000000000000" pitchFamily="2" charset="0"/>
              </a:rPr>
              <a:t>DMAConfig(DMA_DAC_CHAN_ID,(uint32_t)&amp;DACOut[0],(uint32_t) &amp; (DAC0-&gt;DATA0),DACLegth);</a:t>
            </a:r>
          </a:p>
          <a:p>
            <a:r>
              <a:rPr lang="en-US" altLang="zh-CN">
                <a:latin typeface="Roboto" panose="02000000000000000000" pitchFamily="2" charset="0"/>
              </a:rPr>
              <a:t>DL_Timer_startCounter(TIMER_1_DAC_INST);</a:t>
            </a:r>
          </a:p>
        </p:txBody>
      </p:sp>
    </p:spTree>
    <p:extLst>
      <p:ext uri="{BB962C8B-B14F-4D97-AF65-F5344CB8AC3E}">
        <p14:creationId xmlns:p14="http://schemas.microsoft.com/office/powerpoint/2010/main" val="2475075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F71E7-8A5D-70F1-2A6D-BD743583F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EE5D59C-FBF3-2C70-0527-819A63436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二、</a:t>
            </a:r>
            <a:r>
              <a:rPr lang="en-US" altLang="zh-CN"/>
              <a:t>TFT</a:t>
            </a:r>
            <a:r>
              <a:rPr lang="zh-CN" altLang="en-US"/>
              <a:t>屏幕教程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D93FCBF-389F-5903-2297-B082ED78372D}"/>
              </a:ext>
            </a:extLst>
          </p:cNvPr>
          <p:cNvSpPr txBox="1"/>
          <p:nvPr/>
        </p:nvSpPr>
        <p:spPr>
          <a:xfrm>
            <a:off x="324000" y="1244941"/>
            <a:ext cx="10764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Roboto" panose="020B0604020202020204" pitchFamily="2" charset="0"/>
              </a:rPr>
              <a:t>我们使用的</a:t>
            </a:r>
            <a:r>
              <a:rPr lang="en-US" altLang="zh-CN">
                <a:latin typeface="Roboto" panose="020B0604020202020204" pitchFamily="2" charset="0"/>
              </a:rPr>
              <a:t>TFT</a:t>
            </a:r>
            <a:r>
              <a:rPr lang="zh-CN" altLang="en-US">
                <a:latin typeface="Roboto" panose="020B0604020202020204" pitchFamily="2" charset="0"/>
              </a:rPr>
              <a:t>屏幕为</a:t>
            </a:r>
            <a:r>
              <a:rPr lang="en-US" altLang="zh-CN">
                <a:latin typeface="Roboto" panose="020B0604020202020204" pitchFamily="2" charset="0"/>
              </a:rPr>
              <a:t>SPI</a:t>
            </a:r>
            <a:r>
              <a:rPr lang="zh-CN" altLang="en-US">
                <a:latin typeface="Roboto" panose="020B0604020202020204" pitchFamily="2" charset="0"/>
              </a:rPr>
              <a:t>通信接口，但是鉴于</a:t>
            </a:r>
            <a:r>
              <a:rPr lang="en-US" altLang="zh-CN">
                <a:latin typeface="Roboto" panose="020B0604020202020204" pitchFamily="2" charset="0"/>
              </a:rPr>
              <a:t>TI</a:t>
            </a:r>
            <a:r>
              <a:rPr lang="zh-CN" altLang="en-US">
                <a:latin typeface="Roboto" panose="020B0604020202020204" pitchFamily="2" charset="0"/>
              </a:rPr>
              <a:t>的</a:t>
            </a:r>
            <a:r>
              <a:rPr lang="en-US" altLang="zh-CN">
                <a:latin typeface="Roboto" panose="020B0604020202020204" pitchFamily="2" charset="0"/>
              </a:rPr>
              <a:t>SPI</a:t>
            </a:r>
            <a:r>
              <a:rPr lang="zh-CN" altLang="en-US">
                <a:latin typeface="Roboto" panose="020B0604020202020204" pitchFamily="2" charset="0"/>
              </a:rPr>
              <a:t>配置较为繁琐，且问题较多，所以我们屏幕驱动使用</a:t>
            </a:r>
            <a:r>
              <a:rPr lang="en-US" altLang="zh-CN">
                <a:latin typeface="Roboto" panose="020B0604020202020204" pitchFamily="2" charset="0"/>
              </a:rPr>
              <a:t>IO</a:t>
            </a:r>
            <a:r>
              <a:rPr lang="zh-CN" altLang="en-US">
                <a:latin typeface="Roboto" panose="020B0604020202020204" pitchFamily="2" charset="0"/>
              </a:rPr>
              <a:t>口模拟</a:t>
            </a:r>
            <a:r>
              <a:rPr lang="en-US" altLang="zh-CN">
                <a:latin typeface="Roboto" panose="020B0604020202020204" pitchFamily="2" charset="0"/>
              </a:rPr>
              <a:t>SPI</a:t>
            </a:r>
            <a:r>
              <a:rPr lang="zh-CN" altLang="en-US">
                <a:latin typeface="Roboto" panose="020B0604020202020204" pitchFamily="2" charset="0"/>
              </a:rPr>
              <a:t>，在</a:t>
            </a:r>
            <a:r>
              <a:rPr lang="en-US" altLang="zh-CN">
                <a:latin typeface="Roboto" panose="020B0604020202020204" pitchFamily="2" charset="0"/>
              </a:rPr>
              <a:t>sysconfig</a:t>
            </a:r>
            <a:r>
              <a:rPr lang="zh-CN" altLang="en-US">
                <a:latin typeface="Roboto" panose="020B0604020202020204" pitchFamily="2" charset="0"/>
              </a:rPr>
              <a:t>中只需要将需要的引脚设置为输出模式即可，在历程的</a:t>
            </a:r>
            <a:r>
              <a:rPr lang="en-US" altLang="zh-CN">
                <a:latin typeface="Roboto" panose="020B0604020202020204" pitchFamily="2" charset="0"/>
              </a:rPr>
              <a:t>lcd.c</a:t>
            </a:r>
            <a:r>
              <a:rPr lang="zh-CN" altLang="en-US">
                <a:latin typeface="Roboto" panose="020B0604020202020204" pitchFamily="2" charset="0"/>
              </a:rPr>
              <a:t>文件中，找到如下代码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#define LCD_SCL_WR(x)	DL_GPIO_writePinsVal(LCD_PORT, LCD_SCL_PIN, x ? LCD_SCL_PIN : 0)</a:t>
            </a:r>
          </a:p>
          <a:p>
            <a:r>
              <a:rPr lang="en-US" altLang="zh-CN">
                <a:latin typeface="Roboto" panose="020B0604020202020204" pitchFamily="2" charset="0"/>
              </a:rPr>
              <a:t>#define LCD_SDA_WR(x)	DL_GPIO_writePinsVal(LCD_PORT, LCD_SDA_PIN, x ? LCD_SDA_PIN : 0)</a:t>
            </a:r>
          </a:p>
          <a:p>
            <a:r>
              <a:rPr lang="en-US" altLang="zh-CN">
                <a:latin typeface="Roboto" panose="020B0604020202020204" pitchFamily="2" charset="0"/>
              </a:rPr>
              <a:t>#define LCD_RST_WR(x)	DL_GPIO_writePinsVal(LCD_PORT, LCD_RST_PIN, x ? LCD_RST_PIN : 0)</a:t>
            </a:r>
          </a:p>
          <a:p>
            <a:r>
              <a:rPr lang="en-US" altLang="zh-CN">
                <a:latin typeface="Roboto" panose="020B0604020202020204" pitchFamily="2" charset="0"/>
              </a:rPr>
              <a:t>#define LCD_CS_WR(x)	DL_GPIO_writePinsVal(LCD_PORT, LCD_CS_PIN, x ? LCD_CS_PIN : 0)</a:t>
            </a:r>
          </a:p>
          <a:p>
            <a:r>
              <a:rPr lang="en-US" altLang="zh-CN">
                <a:latin typeface="Roboto" panose="020B0604020202020204" pitchFamily="2" charset="0"/>
              </a:rPr>
              <a:t>#define LCD_DC_WR(x)	DL_GPIO_writePinsVal(LCD_PORT, LCD_DC_PIN, x ? LCD_DC_PIN : 0)</a:t>
            </a:r>
          </a:p>
          <a:p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只需要将引脚名称改为你自己设置的即可，其它的都不用动</a:t>
            </a:r>
            <a:endParaRPr lang="en-US" altLang="zh-CN">
              <a:latin typeface="Roboto" panose="020B0604020202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174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B7925-DB37-E608-B082-C1E380BE0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1D8CA31-F589-FB08-55F4-FEEC94FAC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三、</a:t>
            </a:r>
            <a:r>
              <a:rPr lang="en-US" altLang="zh-CN"/>
              <a:t>DSP</a:t>
            </a:r>
            <a:r>
              <a:rPr lang="zh-CN" altLang="en-US"/>
              <a:t>库教程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37AC85-0C83-9AFB-064B-65186CFC676E}"/>
              </a:ext>
            </a:extLst>
          </p:cNvPr>
          <p:cNvSpPr txBox="1"/>
          <p:nvPr/>
        </p:nvSpPr>
        <p:spPr>
          <a:xfrm>
            <a:off x="317020" y="1244941"/>
            <a:ext cx="1076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Roboto" panose="020B0604020202020204" pitchFamily="2" charset="0"/>
              </a:rPr>
              <a:t>ARM—DSP</a:t>
            </a:r>
            <a:r>
              <a:rPr lang="zh-CN" altLang="en-US">
                <a:latin typeface="Roboto" panose="020B0604020202020204" pitchFamily="2" charset="0"/>
              </a:rPr>
              <a:t>的使用和以前</a:t>
            </a:r>
            <a:r>
              <a:rPr lang="en-US" altLang="zh-CN">
                <a:latin typeface="Roboto" panose="020B0604020202020204" pitchFamily="2" charset="0"/>
              </a:rPr>
              <a:t>STM32</a:t>
            </a:r>
            <a:r>
              <a:rPr lang="zh-CN" altLang="en-US">
                <a:latin typeface="Roboto" panose="020B0604020202020204" pitchFamily="2" charset="0"/>
              </a:rPr>
              <a:t>用法一样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1.</a:t>
            </a:r>
            <a:r>
              <a:rPr lang="zh-CN" altLang="en-US">
                <a:latin typeface="Roboto" panose="020B0604020202020204" pitchFamily="2" charset="0"/>
              </a:rPr>
              <a:t>使用</a:t>
            </a:r>
            <a:r>
              <a:rPr lang="en-US" altLang="zh-CN">
                <a:latin typeface="Roboto" panose="020B0604020202020204" pitchFamily="2" charset="0"/>
              </a:rPr>
              <a:t>KEIL</a:t>
            </a:r>
            <a:r>
              <a:rPr lang="zh-CN" altLang="en-US">
                <a:latin typeface="Roboto" panose="020B0604020202020204" pitchFamily="2" charset="0"/>
              </a:rPr>
              <a:t>自带的</a:t>
            </a:r>
            <a:r>
              <a:rPr lang="en-US" altLang="zh-CN">
                <a:latin typeface="Roboto" panose="020B0604020202020204" pitchFamily="2" charset="0"/>
              </a:rPr>
              <a:t>DSP</a:t>
            </a:r>
            <a:r>
              <a:rPr lang="zh-CN" altLang="en-US">
                <a:latin typeface="Roboto" panose="020B0604020202020204" pitchFamily="2" charset="0"/>
              </a:rPr>
              <a:t>库，方便快捷，但存在有些人用不了的情况，大家要自己去尝试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2.</a:t>
            </a:r>
            <a:r>
              <a:rPr lang="zh-CN" altLang="en-US">
                <a:latin typeface="Roboto" panose="020B0604020202020204" pitchFamily="2" charset="0"/>
              </a:rPr>
              <a:t>自己移植</a:t>
            </a:r>
            <a:r>
              <a:rPr lang="en-US" altLang="zh-CN">
                <a:latin typeface="Roboto" panose="020B0604020202020204" pitchFamily="2" charset="0"/>
              </a:rPr>
              <a:t>DSP</a:t>
            </a:r>
            <a:r>
              <a:rPr lang="zh-CN" altLang="en-US">
                <a:latin typeface="Roboto" panose="020B0604020202020204" pitchFamily="2" charset="0"/>
              </a:rPr>
              <a:t>库源码，上学期教过了，不再赘述，但是也有可能用不了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3.</a:t>
            </a:r>
            <a:r>
              <a:rPr lang="zh-CN" altLang="en-US">
                <a:latin typeface="Roboto" panose="020B0604020202020204" pitchFamily="2" charset="0"/>
              </a:rPr>
              <a:t>使用</a:t>
            </a:r>
            <a:r>
              <a:rPr lang="en-US" altLang="zh-CN">
                <a:latin typeface="Roboto" panose="020B0604020202020204" pitchFamily="2" charset="0"/>
              </a:rPr>
              <a:t>SDK</a:t>
            </a:r>
            <a:r>
              <a:rPr lang="zh-CN" altLang="en-US">
                <a:latin typeface="Roboto" panose="020B0604020202020204" pitchFamily="2" charset="0"/>
              </a:rPr>
              <a:t>里自带的</a:t>
            </a:r>
            <a:r>
              <a:rPr lang="en-US" altLang="zh-CN">
                <a:latin typeface="Roboto" panose="020B0604020202020204" pitchFamily="2" charset="0"/>
              </a:rPr>
              <a:t>DSP</a:t>
            </a:r>
            <a:r>
              <a:rPr lang="zh-CN" altLang="en-US">
                <a:latin typeface="Roboto" panose="020B0604020202020204" pitchFamily="2" charset="0"/>
              </a:rPr>
              <a:t>库源码，在</a:t>
            </a:r>
            <a:r>
              <a:rPr lang="en-US" altLang="zh-CN">
                <a:latin typeface="Roboto" panose="020B0604020202020204" pitchFamily="2" charset="0"/>
              </a:rPr>
              <a:t>C:\ti\mspm0_sdk_2_03_00_07\source\third_party\CMSIS</a:t>
            </a:r>
            <a:r>
              <a:rPr lang="zh-CN" altLang="en-US">
                <a:latin typeface="Roboto" panose="020B0604020202020204" pitchFamily="2" charset="0"/>
              </a:rPr>
              <a:t>，这个官方的一般不会有什么问题，我在使用其它单片机移植</a:t>
            </a:r>
            <a:r>
              <a:rPr lang="en-US" altLang="zh-CN">
                <a:latin typeface="Roboto" panose="020B0604020202020204" pitchFamily="2" charset="0"/>
              </a:rPr>
              <a:t>DSP</a:t>
            </a:r>
            <a:r>
              <a:rPr lang="zh-CN" altLang="en-US">
                <a:latin typeface="Roboto" panose="020B0604020202020204" pitchFamily="2" charset="0"/>
              </a:rPr>
              <a:t>库时发现，只有</a:t>
            </a:r>
            <a:r>
              <a:rPr lang="en-US" altLang="zh-CN">
                <a:latin typeface="Roboto" panose="020B0604020202020204" pitchFamily="2" charset="0"/>
              </a:rPr>
              <a:t>ST</a:t>
            </a:r>
            <a:r>
              <a:rPr lang="zh-CN" altLang="en-US">
                <a:latin typeface="Roboto" panose="020B0604020202020204" pitchFamily="2" charset="0"/>
              </a:rPr>
              <a:t>可以直接下载</a:t>
            </a:r>
            <a:r>
              <a:rPr lang="en-US" altLang="zh-CN">
                <a:latin typeface="Roboto" panose="020B0604020202020204" pitchFamily="2" charset="0"/>
              </a:rPr>
              <a:t>ARM</a:t>
            </a:r>
            <a:r>
              <a:rPr lang="zh-CN" altLang="en-US">
                <a:latin typeface="Roboto" panose="020B0604020202020204" pitchFamily="2" charset="0"/>
              </a:rPr>
              <a:t>官方的源码去移植，</a:t>
            </a:r>
            <a:r>
              <a:rPr lang="en-US" altLang="zh-CN">
                <a:latin typeface="Roboto" panose="020B0604020202020204" pitchFamily="2" charset="0"/>
              </a:rPr>
              <a:t>AT32</a:t>
            </a:r>
            <a:r>
              <a:rPr lang="zh-CN" altLang="en-US">
                <a:latin typeface="Roboto" panose="020B0604020202020204" pitchFamily="2" charset="0"/>
              </a:rPr>
              <a:t>必须用</a:t>
            </a:r>
            <a:r>
              <a:rPr lang="en-US" altLang="zh-CN">
                <a:latin typeface="Roboto" panose="020B0604020202020204" pitchFamily="2" charset="0"/>
              </a:rPr>
              <a:t>at</a:t>
            </a:r>
            <a:r>
              <a:rPr lang="zh-CN" altLang="en-US">
                <a:latin typeface="Roboto" panose="020B0604020202020204" pitchFamily="2" charset="0"/>
              </a:rPr>
              <a:t>的</a:t>
            </a:r>
            <a:r>
              <a:rPr lang="en-US" altLang="zh-CN">
                <a:latin typeface="Roboto" panose="020B0604020202020204" pitchFamily="2" charset="0"/>
              </a:rPr>
              <a:t>SDK</a:t>
            </a:r>
            <a:r>
              <a:rPr lang="zh-CN" altLang="en-US">
                <a:latin typeface="Roboto" panose="020B0604020202020204" pitchFamily="2" charset="0"/>
              </a:rPr>
              <a:t>中移植的</a:t>
            </a:r>
            <a:r>
              <a:rPr lang="en-US" altLang="zh-CN">
                <a:latin typeface="Roboto" panose="020B0604020202020204" pitchFamily="2" charset="0"/>
              </a:rPr>
              <a:t>DSP</a:t>
            </a:r>
            <a:r>
              <a:rPr lang="zh-CN" altLang="en-US">
                <a:latin typeface="Roboto" panose="020B0604020202020204" pitchFamily="2" charset="0"/>
              </a:rPr>
              <a:t>源码才能正常使用</a:t>
            </a:r>
            <a:endParaRPr lang="en-US" altLang="zh-CN">
              <a:latin typeface="Roboto" panose="020B0604020202020204" pitchFamily="2" charset="0"/>
            </a:endParaRPr>
          </a:p>
          <a:p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如果以上三种方法都不行，那我建议把环境重新配置一遍再试试</a:t>
            </a:r>
            <a:endParaRPr lang="en-US" altLang="zh-CN">
              <a:latin typeface="Roboto" panose="020B0604020202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251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2950</TotalTime>
  <Words>944</Words>
  <Application>Microsoft Office PowerPoint</Application>
  <PresentationFormat>宽屏</PresentationFormat>
  <Paragraphs>72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等线</vt:lpstr>
      <vt:lpstr>仿宋</vt:lpstr>
      <vt:lpstr>微软雅黑</vt:lpstr>
      <vt:lpstr>Arial</vt:lpstr>
      <vt:lpstr>Calibri</vt:lpstr>
      <vt:lpstr>Calibri Light</vt:lpstr>
      <vt:lpstr>Roboto</vt:lpstr>
      <vt:lpstr>Times New Roman</vt:lpstr>
      <vt:lpstr>Office 主题</vt:lpstr>
      <vt:lpstr>PowerPoint 演示文稿</vt:lpstr>
      <vt:lpstr>一、DAC教程</vt:lpstr>
      <vt:lpstr>一、DAC教程</vt:lpstr>
      <vt:lpstr>一、DAC教程</vt:lpstr>
      <vt:lpstr>二、TFT屏幕教程</vt:lpstr>
      <vt:lpstr>三、DSP库教程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dengchunhua@hust.edu.cn</dc:creator>
  <cp:lastModifiedBy>mikoto misaka</cp:lastModifiedBy>
  <cp:revision>2340</cp:revision>
  <cp:lastPrinted>2021-11-17T07:39:00Z</cp:lastPrinted>
  <dcterms:created xsi:type="dcterms:W3CDTF">2017-01-03T09:21:00Z</dcterms:created>
  <dcterms:modified xsi:type="dcterms:W3CDTF">2025-03-19T07:42:05Z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2052-11.8.6.8556</vt:lpwstr>
  </property>
</Properties>
</file>