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625" r:id="rId3"/>
    <p:sldId id="659" r:id="rId4"/>
    <p:sldId id="660" r:id="rId5"/>
    <p:sldId id="661" r:id="rId6"/>
    <p:sldId id="662" r:id="rId7"/>
    <p:sldId id="664" r:id="rId8"/>
    <p:sldId id="665" r:id="rId9"/>
    <p:sldId id="666" r:id="rId10"/>
    <p:sldId id="667" r:id="rId11"/>
    <p:sldId id="668" r:id="rId12"/>
    <p:sldId id="669" r:id="rId13"/>
    <p:sldId id="656" r:id="rId14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gxin he" initials="hh" lastIdx="1" clrIdx="0"/>
  <p:cmAuthor id="2" name="dengchunhua@hust.edu.cn" initials="d" lastIdx="1" clrIdx="1"/>
  <p:cmAuthor id="3" name="zhangh" initials="z" lastIdx="0" clrIdx="2"/>
  <p:cmAuthor id="4" name="rory" initials="r" lastIdx="1" clrIdx="3">
    <p:extLst>
      <p:ext uri="{19B8F6BF-5375-455C-9EA6-DF929625EA0E}">
        <p15:presenceInfo xmlns:p15="http://schemas.microsoft.com/office/powerpoint/2012/main" userId="r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548BDC"/>
    <a:srgbClr val="0099FF"/>
    <a:srgbClr val="9933FF"/>
    <a:srgbClr val="315B2F"/>
    <a:srgbClr val="FF0066"/>
    <a:srgbClr val="FF3399"/>
    <a:srgbClr val="66FF33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473" autoAdjust="0"/>
  </p:normalViewPr>
  <p:slideViewPr>
    <p:cSldViewPr snapToGrid="0">
      <p:cViewPr varScale="1">
        <p:scale>
          <a:sx n="91" d="100"/>
          <a:sy n="91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7EBF0-E8F7-49ED-854D-6EAC1668934A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BE42-4FE0-4666-B7C9-82FA60E3C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709B5-BCA3-4BE5-B10C-186128433F84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29BC-EAC3-4B58-83D7-867CA2B6A3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284F-783B-4FFD-EB20-61E1F2A1A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148A8E-995D-923E-B9D3-ED2A8C0FC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93BB33-2536-6133-F0C1-1E7034336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56A09-48DA-75EB-BC92-A53B1FDF3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5675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9CA33-6BF6-2624-20A6-7DCCA3BA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FE474B-551E-1AD2-4EBF-611B90264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FC94A3-9214-F76E-7B70-D9406A219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E7B519-7957-C72B-5F85-494721BAF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0295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7F2FA-25B6-AA7A-A720-F3366F51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889228-0165-BB64-A88A-878979392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B0C76-7459-A2F5-A55E-FC75A11F1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DE8D30-3782-CEE2-D58A-4A4FBC6D80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3500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F58F5-422F-AE65-022A-F488FEE8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9AC3FD-2881-564F-66D7-EDCB8A9D9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A20B71-0144-6E77-0B24-349D03509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ED4C44-7A9C-0710-A0B7-3EA9B7B64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78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B110-6A59-5E93-1D4D-14D575D5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09B0B4-B3D9-5725-D5C9-FDB0C7B42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0D879AC-40E5-DAF1-E97B-C22D388CA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ECB7CD-10BC-7E1F-74EA-2C86478F3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1063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E991-3688-030F-7905-85062989F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6D8591-BDC2-3B96-63FF-C321E517C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FE35D2-149C-F125-8290-9DDC59512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03B5D7-EEF4-3727-AE56-91A99F293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200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2F1B9-DBF9-6F1F-F472-B44090E3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86319F-2217-BEDB-FBEE-615891D84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3129B4-1642-DDD2-72C0-D06778CAE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96754D-46F0-5874-8C23-AA8FF25BF3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012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1A0E-236D-1555-F6C3-A73C7B2C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D1EEC7-7F0A-E408-C473-F132A413E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E26BBA-BE7A-5770-695B-720ED173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E3970-F4F1-151A-0C4B-4EDA720754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207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17DF-7606-FCD4-E4B6-3C7A2D013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CF8222-6880-1B9D-6C7F-B489ABC7E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818D42-5D7C-6585-C5AD-3ECB9E5C4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AB6B16-A1EC-39BD-3259-AF22EB953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8348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650F-542E-8F04-79CD-EFB6704A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874FCF-5AC6-01F0-117E-FA18C1579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AEDA83-429D-EE5F-E262-A3204D466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B56D9-681B-DF8C-3662-32808938A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259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B286-6BD2-3111-8D67-83ED1E0F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8840A8-9698-98C8-2284-A75757318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DC633E-FFE2-6B59-7184-596BD4074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255FD-1066-5766-37E5-4713A3D83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535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56247"/>
            <a:ext cx="12192000" cy="12361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4974"/>
            <a:ext cx="12192000" cy="730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7" descr="148550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909"/>
            <a:ext cx="1631491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>
            <a:off x="2380889" y="737999"/>
            <a:ext cx="9811112" cy="126599"/>
          </a:xfrm>
          <a:prstGeom prst="parallelogram">
            <a:avLst>
              <a:gd name="adj" fmla="val 990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平行四边形 7"/>
          <p:cNvSpPr/>
          <p:nvPr userDrawn="1"/>
        </p:nvSpPr>
        <p:spPr>
          <a:xfrm>
            <a:off x="1675972" y="738000"/>
            <a:ext cx="720000" cy="90000"/>
          </a:xfrm>
          <a:prstGeom prst="parallelogram">
            <a:avLst>
              <a:gd name="adj" fmla="val 99032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平行四边形 8"/>
          <p:cNvSpPr/>
          <p:nvPr userDrawn="1"/>
        </p:nvSpPr>
        <p:spPr>
          <a:xfrm>
            <a:off x="0" y="738000"/>
            <a:ext cx="1682878" cy="126598"/>
          </a:xfrm>
          <a:prstGeom prst="parallelogram">
            <a:avLst>
              <a:gd name="adj" fmla="val 9903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108001"/>
            <a:ext cx="12192000" cy="68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endParaRPr lang="en-US" altLang="zh-CN" sz="32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36000"/>
            <a:ext cx="12192000" cy="720000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15E12-E1AF-4085-A7A4-DC9946A0F4CC}" type="datetimeFigureOut">
              <a:rPr lang="zh-CN" altLang="en-US" smtClean="0"/>
              <a:t>2025/3/12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98571" y="1486066"/>
            <a:ext cx="9194858" cy="294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sz="6000" dirty="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TI MSPM0</a:t>
            </a:r>
            <a:r>
              <a:rPr lang="zh-CN" altLang="en-US" sz="6000" dirty="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入门</a:t>
            </a:r>
            <a:endParaRPr lang="en-US" altLang="zh-CN" sz="6000" dirty="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35000"/>
              </a:lnSpc>
            </a:pPr>
            <a:r>
              <a:rPr lang="zh-CN" altLang="en-US" sz="28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基础外设入门</a:t>
            </a:r>
            <a:endParaRPr lang="en-US" altLang="zh-CN" sz="2800" dirty="0">
              <a:solidFill>
                <a:srgbClr val="FF000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4465320" y="4768109"/>
            <a:ext cx="43891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1pPr>
            <a:lvl2pPr marL="742950" indent="-28575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2pPr>
            <a:lvl3pPr marL="11430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3pPr>
            <a:lvl4pPr marL="16002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4pPr>
            <a:lvl5pPr marL="20574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主讲人：汪源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</a:t>
            </a:r>
            <a:r>
              <a:rPr lang="en-US" altLang="zh-CN"/>
              <a:t>GPIO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0C1398-380A-482D-BC4A-EF665EB65585}"/>
              </a:ext>
            </a:extLst>
          </p:cNvPr>
          <p:cNvSpPr txBox="1"/>
          <p:nvPr/>
        </p:nvSpPr>
        <p:spPr>
          <a:xfrm>
            <a:off x="324000" y="1244941"/>
            <a:ext cx="1076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1.Sysconfig</a:t>
            </a:r>
            <a:r>
              <a:rPr lang="zh-CN" altLang="en-US"/>
              <a:t>配置</a:t>
            </a:r>
            <a:endParaRPr lang="en-US" altLang="zh-CN" dirty="0"/>
          </a:p>
          <a:p>
            <a:r>
              <a:rPr lang="zh-CN" altLang="en-US">
                <a:latin typeface="Roboto" panose="020B0604020202020204" pitchFamily="2" charset="0"/>
              </a:rPr>
              <a:t>在</a:t>
            </a:r>
            <a:r>
              <a:rPr lang="en-US" altLang="zh-CN">
                <a:latin typeface="Roboto" panose="020B0604020202020204" pitchFamily="2" charset="0"/>
              </a:rPr>
              <a:t>GPIO</a:t>
            </a:r>
            <a:r>
              <a:rPr lang="zh-CN" altLang="en-US">
                <a:latin typeface="Roboto" panose="020B0604020202020204" pitchFamily="2" charset="0"/>
              </a:rPr>
              <a:t>中</a:t>
            </a:r>
            <a:r>
              <a:rPr lang="en-US" altLang="zh-CN">
                <a:latin typeface="Roboto" panose="020B0604020202020204" pitchFamily="2" charset="0"/>
              </a:rPr>
              <a:t>ADD</a:t>
            </a:r>
            <a:r>
              <a:rPr lang="zh-CN" altLang="en-US">
                <a:latin typeface="Roboto" panose="020B0604020202020204" pitchFamily="2" charset="0"/>
              </a:rPr>
              <a:t>一个</a:t>
            </a:r>
            <a:r>
              <a:rPr lang="en-US" altLang="zh-CN">
                <a:latin typeface="Roboto" panose="020B0604020202020204" pitchFamily="2" charset="0"/>
              </a:rPr>
              <a:t>GPIO</a:t>
            </a:r>
            <a:r>
              <a:rPr lang="zh-CN" altLang="en-US">
                <a:latin typeface="Roboto" panose="020B0604020202020204" pitchFamily="2" charset="0"/>
              </a:rPr>
              <a:t>组，可以根据功能命名，如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LED</a:t>
            </a:r>
            <a:r>
              <a:rPr lang="zh-CN" altLang="en-US">
                <a:latin typeface="Roboto" panose="020B0604020202020204" pitchFamily="2" charset="0"/>
              </a:rPr>
              <a:t>，</a:t>
            </a:r>
            <a:r>
              <a:rPr lang="en-US" altLang="zh-CN">
                <a:latin typeface="Roboto" panose="020B0604020202020204" pitchFamily="2" charset="0"/>
              </a:rPr>
              <a:t>port</a:t>
            </a:r>
            <a:r>
              <a:rPr lang="zh-CN" altLang="en-US">
                <a:latin typeface="Roboto" panose="020B0604020202020204" pitchFamily="2" charset="0"/>
              </a:rPr>
              <a:t>为指定引脚组，无要求可以选择</a:t>
            </a:r>
            <a:r>
              <a:rPr lang="en-US" altLang="zh-CN">
                <a:latin typeface="Roboto" panose="020B0604020202020204" pitchFamily="2" charset="0"/>
              </a:rPr>
              <a:t>any</a:t>
            </a:r>
          </a:p>
          <a:p>
            <a:r>
              <a:rPr lang="zh-CN" altLang="en-US">
                <a:latin typeface="Roboto" panose="020B0604020202020204" pitchFamily="2" charset="0"/>
              </a:rPr>
              <a:t>在</a:t>
            </a:r>
            <a:r>
              <a:rPr lang="en-US" altLang="zh-CN">
                <a:latin typeface="Roboto" panose="020B0604020202020204" pitchFamily="2" charset="0"/>
              </a:rPr>
              <a:t>Group</a:t>
            </a:r>
            <a:r>
              <a:rPr lang="zh-CN" altLang="en-US">
                <a:latin typeface="Roboto" panose="020B0604020202020204" pitchFamily="2" charset="0"/>
              </a:rPr>
              <a:t>中</a:t>
            </a:r>
            <a:r>
              <a:rPr lang="en-US" altLang="zh-CN">
                <a:latin typeface="Roboto" panose="020B0604020202020204" pitchFamily="2" charset="0"/>
              </a:rPr>
              <a:t>add</a:t>
            </a:r>
            <a:r>
              <a:rPr lang="zh-CN" altLang="en-US">
                <a:latin typeface="Roboto" panose="020B0604020202020204" pitchFamily="2" charset="0"/>
              </a:rPr>
              <a:t>一个成员，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Direction</a:t>
            </a:r>
            <a:r>
              <a:rPr lang="zh-CN" altLang="en-US">
                <a:latin typeface="Roboto" panose="020B0604020202020204" pitchFamily="2" charset="0"/>
              </a:rPr>
              <a:t>：输入或输出模式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Initial Value</a:t>
            </a:r>
            <a:r>
              <a:rPr lang="zh-CN" altLang="en-US">
                <a:latin typeface="Roboto" panose="020B0604020202020204" pitchFamily="2" charset="0"/>
              </a:rPr>
              <a:t>：默认输出值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IO Structure</a:t>
            </a:r>
            <a:r>
              <a:rPr lang="zh-CN" altLang="en-US">
                <a:latin typeface="Roboto" panose="020B0604020202020204" pitchFamily="2" charset="0"/>
              </a:rPr>
              <a:t>：配置输出高速，低速等模式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Interrupts/events</a:t>
            </a:r>
            <a:r>
              <a:rPr lang="zh-CN" altLang="en-US">
                <a:latin typeface="Roboto" panose="020B0604020202020204" pitchFamily="2" charset="0"/>
              </a:rPr>
              <a:t>：配置外部中断，我们一般不需要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PinMux</a:t>
            </a:r>
            <a:r>
              <a:rPr lang="zh-CN" altLang="en-US">
                <a:latin typeface="Roboto" panose="020B0604020202020204" pitchFamily="2" charset="0"/>
              </a:rPr>
              <a:t>：选择具体的外设或引脚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GPIO</a:t>
            </a:r>
            <a:r>
              <a:rPr lang="zh-CN" altLang="en-US">
                <a:latin typeface="Roboto" panose="020B0604020202020204" pitchFamily="2" charset="0"/>
              </a:rPr>
              <a:t>一般只要上述配置即可，配置完成后保存文件</a:t>
            </a:r>
            <a:endParaRPr lang="en-US" altLang="zh-CN"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endParaRPr lang="en-US" altLang="zh-CN" dirty="0">
              <a:latin typeface="Roboto" panose="020B06040202020202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73DF4B-BFD4-7585-D79D-C49CC1ACC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000" y="920281"/>
            <a:ext cx="6440337" cy="54991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71E7-8A5D-70F1-2A6D-BD743583F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EE5D59C-FBF3-2C70-0527-819A6343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</a:t>
            </a:r>
            <a:r>
              <a:rPr lang="en-US" altLang="zh-CN"/>
              <a:t>GPIO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93FCBF-389F-5903-2297-B082ED78372D}"/>
              </a:ext>
            </a:extLst>
          </p:cNvPr>
          <p:cNvSpPr txBox="1"/>
          <p:nvPr/>
        </p:nvSpPr>
        <p:spPr>
          <a:xfrm>
            <a:off x="324000" y="1244941"/>
            <a:ext cx="1076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相关库函数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DL_GPIO_writePinsVal(GPIO_Regs* gpio, uint32_t pinsMask, uint32_t pinsVal)</a:t>
            </a:r>
          </a:p>
          <a:p>
            <a:r>
              <a:rPr lang="zh-CN" altLang="en-US">
                <a:latin typeface="Roboto" panose="020B0604020202020204" pitchFamily="2" charset="0"/>
              </a:rPr>
              <a:t>对指定引脚写入值，参数为引脚组，引脚编号，要写入的值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例：</a:t>
            </a:r>
            <a:r>
              <a:rPr lang="en-US" altLang="zh-CN">
                <a:latin typeface="Roboto" panose="020B0604020202020204" pitchFamily="2" charset="0"/>
              </a:rPr>
              <a:t> DL_GPIO_writePinsVal(GPIOA, DL_GPIO_PIN_5, DL_GPIO_PIN_5);//PA5</a:t>
            </a:r>
            <a:r>
              <a:rPr lang="zh-CN" altLang="en-US">
                <a:latin typeface="Roboto" panose="020B0604020202020204" pitchFamily="2" charset="0"/>
              </a:rPr>
              <a:t>引脚置高电平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         DL_GPIO_writePinsVal(GPIOA, DL_GPIO_PIN_5, 0);//PA5</a:t>
            </a:r>
            <a:r>
              <a:rPr lang="zh-CN" altLang="en-US">
                <a:latin typeface="Roboto" panose="020B0604020202020204" pitchFamily="2" charset="0"/>
              </a:rPr>
              <a:t>引脚置低电平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注意：与</a:t>
            </a:r>
            <a:r>
              <a:rPr lang="en-US" altLang="zh-CN">
                <a:latin typeface="Roboto" panose="020B0604020202020204" pitchFamily="2" charset="0"/>
              </a:rPr>
              <a:t>STM32</a:t>
            </a:r>
            <a:r>
              <a:rPr lang="zh-CN" altLang="en-US">
                <a:latin typeface="Roboto" panose="020B0604020202020204" pitchFamily="2" charset="0"/>
              </a:rPr>
              <a:t>不同，不能直接写</a:t>
            </a:r>
            <a:r>
              <a:rPr lang="en-US" altLang="zh-CN">
                <a:latin typeface="Roboto" panose="020B0604020202020204" pitchFamily="2" charset="0"/>
              </a:rPr>
              <a:t>1</a:t>
            </a:r>
            <a:r>
              <a:rPr lang="zh-CN" altLang="en-US">
                <a:latin typeface="Roboto" panose="020B0604020202020204" pitchFamily="2" charset="0"/>
              </a:rPr>
              <a:t>输出高，必须是引脚的编号，输出低可以直接写</a:t>
            </a:r>
            <a:r>
              <a:rPr lang="en-US" altLang="zh-CN">
                <a:latin typeface="Roboto" panose="020B0604020202020204" pitchFamily="2" charset="0"/>
              </a:rPr>
              <a:t>0</a:t>
            </a: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DL_GPIO_setPins(GPIO_Regs* gpio, uint32_t pins);//</a:t>
            </a:r>
            <a:r>
              <a:rPr lang="zh-CN" altLang="en-US">
                <a:latin typeface="Roboto" panose="020B0604020202020204" pitchFamily="2" charset="0"/>
              </a:rPr>
              <a:t>引脚置高电平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DL_GPIO_clearPins(GPIO_Regs* gpio, uint32_t pins);//</a:t>
            </a:r>
            <a:r>
              <a:rPr lang="zh-CN" altLang="en-US">
                <a:latin typeface="Roboto" panose="020B0604020202020204" pitchFamily="2" charset="0"/>
              </a:rPr>
              <a:t>引脚置低电平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DL_GPIO_togglePins(GPIO_Regs* gpio, uint32_t pins);//</a:t>
            </a:r>
            <a:r>
              <a:rPr lang="zh-CN" altLang="en-US">
                <a:latin typeface="Roboto" panose="020B0604020202020204" pitchFamily="2" charset="0"/>
              </a:rPr>
              <a:t>引脚电平翻转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uint32_t DL_GPIO_readPins(GPIO_Regs* gpio, uint32_t pins)//</a:t>
            </a:r>
            <a:r>
              <a:rPr lang="zh-CN" altLang="en-US">
                <a:latin typeface="Roboto" panose="020B0604020202020204" pitchFamily="2" charset="0"/>
              </a:rPr>
              <a:t>读取引脚电平</a:t>
            </a:r>
            <a:endParaRPr lang="en-US" altLang="zh-CN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74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C02DA-B8BE-667A-94E1-CCD58E19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C1198B-AD61-7745-FA2F-8476BFA4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UART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8C423E-F338-D414-EFB3-63CB6C2442B7}"/>
              </a:ext>
            </a:extLst>
          </p:cNvPr>
          <p:cNvSpPr txBox="1"/>
          <p:nvPr/>
        </p:nvSpPr>
        <p:spPr>
          <a:xfrm>
            <a:off x="0" y="948838"/>
            <a:ext cx="1076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1.Sysconfig</a:t>
            </a:r>
            <a:r>
              <a:rPr lang="zh-CN" altLang="en-US">
                <a:latin typeface="Roboto" panose="020B0604020202020204" pitchFamily="2" charset="0"/>
              </a:rPr>
              <a:t>配置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同样，对</a:t>
            </a:r>
            <a:r>
              <a:rPr lang="en-US" altLang="zh-CN">
                <a:latin typeface="Roboto" panose="020B0604020202020204" pitchFamily="2" charset="0"/>
              </a:rPr>
              <a:t>UART</a:t>
            </a:r>
            <a:r>
              <a:rPr lang="zh-CN" altLang="en-US">
                <a:latin typeface="Roboto" panose="020B0604020202020204" pitchFamily="2" charset="0"/>
              </a:rPr>
              <a:t>进行命名，时钟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选择，分频，波特率的配置，绝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大多数配置可以默认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在</a:t>
            </a:r>
            <a:r>
              <a:rPr lang="en-US" altLang="zh-CN" b="1" i="0">
                <a:effectLst/>
                <a:latin typeface="Roboto" panose="02000000000000000000" pitchFamily="2" charset="0"/>
              </a:rPr>
              <a:t>Advanced Configuration</a:t>
            </a:r>
            <a:r>
              <a:rPr lang="zh-CN" altLang="en-US" b="1" i="0">
                <a:effectLst/>
                <a:latin typeface="Roboto" panose="02000000000000000000" pitchFamily="2" charset="0"/>
              </a:rPr>
              <a:t>中，配置</a:t>
            </a:r>
            <a:endParaRPr lang="en-US" altLang="zh-CN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UART MOED</a:t>
            </a:r>
            <a:r>
              <a:rPr lang="zh-CN" altLang="en-US">
                <a:latin typeface="Roboto" panose="020B0604020202020204" pitchFamily="2" charset="0"/>
              </a:rPr>
              <a:t>：普通模式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Communication Direction 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：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tx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和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rx</a:t>
            </a: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Oversampling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：过采样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16x</a:t>
            </a:r>
          </a:p>
          <a:p>
            <a:r>
              <a:rPr lang="zh-CN" altLang="en-US">
                <a:latin typeface="Roboto" panose="020B0604020202020204" pitchFamily="2" charset="0"/>
              </a:rPr>
              <a:t>使能</a:t>
            </a:r>
            <a:r>
              <a:rPr lang="en-US" altLang="zh-CN">
                <a:latin typeface="Roboto" panose="020B0604020202020204" pitchFamily="2" charset="0"/>
              </a:rPr>
              <a:t>FIFO</a:t>
            </a:r>
            <a:r>
              <a:rPr lang="zh-CN" altLang="en-US">
                <a:latin typeface="Roboto" panose="020B0604020202020204" pitchFamily="2" charset="0"/>
              </a:rPr>
              <a:t>等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在</a:t>
            </a:r>
            <a:r>
              <a:rPr lang="en-US" altLang="zh-CN">
                <a:latin typeface="Roboto" panose="020B0604020202020204" pitchFamily="2" charset="0"/>
              </a:rPr>
              <a:t>Interrupt</a:t>
            </a:r>
            <a:r>
              <a:rPr lang="zh-CN" altLang="en-US">
                <a:latin typeface="Roboto" panose="020B0604020202020204" pitchFamily="2" charset="0"/>
              </a:rPr>
              <a:t>中使能接收中断，配置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优先级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在</a:t>
            </a:r>
            <a:r>
              <a:rPr lang="en-US" altLang="zh-CN">
                <a:latin typeface="Roboto" panose="020B0604020202020204" pitchFamily="2" charset="0"/>
              </a:rPr>
              <a:t>PinMux</a:t>
            </a:r>
            <a:r>
              <a:rPr lang="zh-CN" altLang="en-US">
                <a:latin typeface="Roboto" panose="020B0604020202020204" pitchFamily="2" charset="0"/>
              </a:rPr>
              <a:t>中选择具体的串口外设</a:t>
            </a:r>
            <a:endParaRPr lang="en-US" altLang="zh-CN"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注意：</a:t>
            </a:r>
            <a:r>
              <a:rPr lang="en-US" altLang="zh-CN">
                <a:latin typeface="Roboto" panose="020B0604020202020204" pitchFamily="2" charset="0"/>
              </a:rPr>
              <a:t>TI</a:t>
            </a:r>
            <a:r>
              <a:rPr lang="zh-CN" altLang="en-US">
                <a:latin typeface="Roboto" panose="020B0604020202020204" pitchFamily="2" charset="0"/>
              </a:rPr>
              <a:t>的串口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发送与接收配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置起来较为复杂，且要与内部</a:t>
            </a:r>
            <a:r>
              <a:rPr lang="en-US" altLang="zh-CN">
                <a:latin typeface="Roboto" panose="020B0604020202020204" pitchFamily="2" charset="0"/>
              </a:rPr>
              <a:t>FIFO</a:t>
            </a:r>
          </a:p>
          <a:p>
            <a:r>
              <a:rPr lang="zh-CN" altLang="en-US">
                <a:latin typeface="Roboto" panose="020B0604020202020204" pitchFamily="2" charset="0"/>
              </a:rPr>
              <a:t>配合，比较浪费时间，所以一般情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况下大家使用阻塞式发送与普通的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中断接收即可</a:t>
            </a:r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BDCB11-D0A1-3374-4311-5C206C32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104" y="948838"/>
            <a:ext cx="4073792" cy="56326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8CFC6B-61D3-B2D1-5526-61336DCC3E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341" y="858558"/>
            <a:ext cx="4498659" cy="58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2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6EF8-BB9C-9331-89E4-BFFE3A05C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E013DB6-BEFE-2618-CC71-25633390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UART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90CB44-43DB-C69E-BFC9-F30ED2E7130A}"/>
              </a:ext>
            </a:extLst>
          </p:cNvPr>
          <p:cNvSpPr txBox="1"/>
          <p:nvPr/>
        </p:nvSpPr>
        <p:spPr>
          <a:xfrm>
            <a:off x="0" y="948838"/>
            <a:ext cx="10764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相关库函数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DL_UART_transmitDataBlocking(UART_Regs *uart, uint8_t data);//</a:t>
            </a:r>
            <a:r>
              <a:rPr lang="zh-CN" altLang="en-US">
                <a:latin typeface="Roboto" panose="020B0604020202020204" pitchFamily="2" charset="0"/>
              </a:rPr>
              <a:t>阻塞式发送一个字符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TI</a:t>
            </a:r>
            <a:r>
              <a:rPr lang="zh-CN" altLang="en-US">
                <a:latin typeface="Roboto" panose="020B0604020202020204" pitchFamily="2" charset="0"/>
              </a:rPr>
              <a:t>的库里没有发送字符串的函数，需要大家自己实现，如下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UART_Send(UART_Regs *uart, char *TxMsg)</a:t>
            </a:r>
          </a:p>
          <a:p>
            <a:r>
              <a:rPr lang="en-US" altLang="zh-CN">
                <a:latin typeface="Roboto" panose="020B0604020202020204" pitchFamily="2" charset="0"/>
              </a:rPr>
              <a:t>{</a:t>
            </a:r>
          </a:p>
          <a:p>
            <a:r>
              <a:rPr lang="en-US" altLang="zh-CN">
                <a:latin typeface="Roboto" panose="020B0604020202020204" pitchFamily="2" charset="0"/>
              </a:rPr>
              <a:t>	for (uint16_t i = 0; TxMsg[i]; ++i)//</a:t>
            </a:r>
            <a:r>
              <a:rPr lang="zh-CN" altLang="en-US">
                <a:latin typeface="Roboto" panose="020B0604020202020204" pitchFamily="2" charset="0"/>
              </a:rPr>
              <a:t>遇到空字符循环结束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	DL_UART_transmitDataBlocking(uart, TxMsg[i]);</a:t>
            </a:r>
          </a:p>
          <a:p>
            <a:r>
              <a:rPr lang="en-US" altLang="zh-CN">
                <a:latin typeface="Roboto" panose="020B0604020202020204" pitchFamily="2" charset="0"/>
              </a:rPr>
              <a:t>}</a:t>
            </a:r>
          </a:p>
          <a:p>
            <a:r>
              <a:rPr lang="zh-CN" altLang="en-US">
                <a:latin typeface="Roboto" panose="020B0604020202020204" pitchFamily="2" charset="0"/>
              </a:rPr>
              <a:t>串口中断接收一个字符，</a:t>
            </a:r>
            <a:r>
              <a:rPr lang="en-US" altLang="zh-CN">
                <a:latin typeface="Roboto" panose="020B0604020202020204" pitchFamily="2" charset="0"/>
              </a:rPr>
              <a:t>TI</a:t>
            </a:r>
            <a:r>
              <a:rPr lang="zh-CN" altLang="en-US">
                <a:latin typeface="Roboto" panose="020B0604020202020204" pitchFamily="2" charset="0"/>
              </a:rPr>
              <a:t>的串口中断是收一个字符中断一次，收字符串可以自己写一个环形</a:t>
            </a:r>
            <a:r>
              <a:rPr lang="en-US" altLang="zh-CN">
                <a:latin typeface="Roboto" panose="020B0604020202020204" pitchFamily="2" charset="0"/>
              </a:rPr>
              <a:t>FIFO</a:t>
            </a:r>
            <a:r>
              <a:rPr lang="zh-CN" altLang="en-US">
                <a:latin typeface="Roboto" panose="020B0604020202020204" pitchFamily="2" charset="0"/>
              </a:rPr>
              <a:t>存数据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NVIC_EnableIRQ(UART_DEBUG_INST _INT_IRQN);//</a:t>
            </a:r>
            <a:r>
              <a:rPr lang="zh-CN" altLang="en-US">
                <a:latin typeface="Roboto" panose="020B0604020202020204" pitchFamily="2" charset="0"/>
              </a:rPr>
              <a:t>初始化中使能串口中断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UART_DEBUG_INST_IRQHandler(void)</a:t>
            </a:r>
          </a:p>
          <a:p>
            <a:r>
              <a:rPr lang="en-US" altLang="zh-CN">
                <a:latin typeface="Roboto" panose="020B0604020202020204" pitchFamily="2" charset="0"/>
              </a:rPr>
              <a:t>{</a:t>
            </a:r>
          </a:p>
          <a:p>
            <a:r>
              <a:rPr lang="en-US" altLang="zh-CN">
                <a:latin typeface="Roboto" panose="020B0604020202020204" pitchFamily="2" charset="0"/>
              </a:rPr>
              <a:t>	static uint16_t index = 0;	</a:t>
            </a:r>
          </a:p>
          <a:p>
            <a:r>
              <a:rPr lang="en-US" altLang="zh-CN">
                <a:latin typeface="Roboto" panose="020B0604020202020204" pitchFamily="2" charset="0"/>
              </a:rPr>
              <a:t>	if (DL_UART_getPendingInterrupt(UART_DEBUG_INST) == DL_UART_IIDX_RX)</a:t>
            </a:r>
          </a:p>
          <a:p>
            <a:r>
              <a:rPr lang="en-US" altLang="zh-CN">
                <a:latin typeface="Roboto" panose="020B0604020202020204" pitchFamily="2" charset="0"/>
              </a:rPr>
              <a:t>	{</a:t>
            </a:r>
          </a:p>
          <a:p>
            <a:r>
              <a:rPr lang="en-US" altLang="zh-CN">
                <a:latin typeface="Roboto" panose="020B0604020202020204" pitchFamily="2" charset="0"/>
              </a:rPr>
              <a:t>		UART_DEBUG_RxBuf[index++] = DL_UART_receiveData(UART_DEBUG_INST);</a:t>
            </a:r>
          </a:p>
          <a:p>
            <a:r>
              <a:rPr lang="en-US" altLang="zh-CN">
                <a:latin typeface="Roboto" panose="020B0604020202020204" pitchFamily="2" charset="0"/>
              </a:rPr>
              <a:t>		DL_UART_clearInterruptStatus(UART0,DL_UART_INTERRUPT_RX);//</a:t>
            </a:r>
            <a:r>
              <a:rPr lang="zh-CN" altLang="en-US">
                <a:latin typeface="Roboto" panose="020B0604020202020204" pitchFamily="2" charset="0"/>
              </a:rPr>
              <a:t>清除中断标志位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	}</a:t>
            </a:r>
          </a:p>
          <a:p>
            <a:r>
              <a:rPr lang="en-US" altLang="zh-CN">
                <a:latin typeface="Roboto" panose="020B0604020202020204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017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584F8-BD08-82A2-A132-B654397A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8347A99-95CF-7DD7-D21B-4417D9AA0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en-US" altLang="zh-CN"/>
              <a:t>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F8BCFF-A1EA-0A79-522E-688DDDF61E63}"/>
              </a:ext>
            </a:extLst>
          </p:cNvPr>
          <p:cNvSpPr txBox="1"/>
          <p:nvPr/>
        </p:nvSpPr>
        <p:spPr>
          <a:xfrm>
            <a:off x="0" y="948838"/>
            <a:ext cx="1076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ADD</a:t>
            </a:r>
            <a:r>
              <a:rPr lang="zh-CN" altLang="en-US">
                <a:latin typeface="Roboto" panose="020B0604020202020204" pitchFamily="2" charset="0"/>
              </a:rPr>
              <a:t>一个定时器外设，命名后，选择时钟源、分频与分频系数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这里</a:t>
            </a:r>
            <a:r>
              <a:rPr lang="en-US" altLang="zh-CN">
                <a:latin typeface="Roboto" panose="020B0604020202020204" pitchFamily="2" charset="0"/>
              </a:rPr>
              <a:t>Clock Divider</a:t>
            </a:r>
            <a:r>
              <a:rPr lang="zh-CN" altLang="en-US">
                <a:latin typeface="Roboto" panose="020B0604020202020204" pitchFamily="2" charset="0"/>
              </a:rPr>
              <a:t>与</a:t>
            </a:r>
            <a:r>
              <a:rPr lang="en-US" altLang="zh-CN">
                <a:latin typeface="Roboto" panose="020B0604020202020204" pitchFamily="2" charset="0"/>
              </a:rPr>
              <a:t>Prescaler</a:t>
            </a:r>
            <a:r>
              <a:rPr lang="zh-CN" altLang="en-US">
                <a:latin typeface="Roboto" panose="020B0604020202020204" pitchFamily="2" charset="0"/>
              </a:rPr>
              <a:t>都可以对定时器的时钟进行分频，可以任选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下面会计算出时钟频率，并给出当前时钟下定时器最大与最小计时周期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Timer mode</a:t>
            </a:r>
            <a:r>
              <a:rPr lang="zh-CN" altLang="en-US">
                <a:latin typeface="Roboto" panose="020B0604020202020204" pitchFamily="2" charset="0"/>
              </a:rPr>
              <a:t>：</a:t>
            </a:r>
            <a:r>
              <a:rPr lang="en-US" altLang="zh-CN">
                <a:latin typeface="Roboto" panose="020B0604020202020204" pitchFamily="2" charset="0"/>
              </a:rPr>
              <a:t> Periodic Up Counting</a:t>
            </a:r>
            <a:r>
              <a:rPr lang="zh-CN" altLang="en-US">
                <a:latin typeface="Roboto" panose="020B0604020202020204" pitchFamily="2" charset="0"/>
              </a:rPr>
              <a:t>向上周期计数，不要选成单次计数了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Desired Timer Period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：期望定时器周期填你需要的计时周期，这个值改变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的是定时器的重装载值，不过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TI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直接帮你计算了，不用自己再去换算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Start time</a:t>
            </a:r>
            <a:r>
              <a:rPr lang="zh-CN" altLang="en-US">
                <a:latin typeface="Roboto" panose="02000000000000000000" pitchFamily="2" charset="0"/>
              </a:rPr>
              <a:t>：勾选，初始化直接开启定时器，不勾选，手动开启。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 i="0">
                <a:effectLst/>
                <a:latin typeface="Roboto" panose="02000000000000000000" pitchFamily="2" charset="0"/>
              </a:rPr>
              <a:t>Interrupts Configuration</a:t>
            </a:r>
            <a:r>
              <a:rPr lang="zh-CN" altLang="en-US" i="0">
                <a:effectLst/>
                <a:latin typeface="Roboto" panose="02000000000000000000" pitchFamily="2" charset="0"/>
              </a:rPr>
              <a:t>：中断事件选择零点事件或者装载事件都一样，</a:t>
            </a:r>
            <a:endParaRPr lang="en-US" altLang="zh-CN" i="0">
              <a:effectLst/>
              <a:latin typeface="Roboto" panose="02000000000000000000" pitchFamily="2" charset="0"/>
            </a:endParaRPr>
          </a:p>
          <a:p>
            <a:r>
              <a:rPr lang="zh-CN" altLang="en-US" i="0">
                <a:effectLst/>
                <a:latin typeface="Roboto" panose="02000000000000000000" pitchFamily="2" charset="0"/>
              </a:rPr>
              <a:t>类似</a:t>
            </a:r>
            <a:r>
              <a:rPr lang="en-US" altLang="zh-CN" i="0">
                <a:effectLst/>
                <a:latin typeface="Roboto" panose="02000000000000000000" pitchFamily="2" charset="0"/>
              </a:rPr>
              <a:t>ST</a:t>
            </a:r>
            <a:r>
              <a:rPr lang="zh-CN" altLang="en-US" i="0">
                <a:effectLst/>
                <a:latin typeface="Roboto" panose="02000000000000000000" pitchFamily="2" charset="0"/>
              </a:rPr>
              <a:t>的定时器更新中断，并配置优先级。</a:t>
            </a:r>
            <a:endParaRPr lang="en-US" altLang="zh-CN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PinMux</a:t>
            </a:r>
            <a:r>
              <a:rPr lang="zh-CN" altLang="en-US">
                <a:latin typeface="Roboto" panose="02000000000000000000" pitchFamily="2" charset="0"/>
              </a:rPr>
              <a:t>选择具体的定时器外设。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TI</a:t>
            </a:r>
            <a:r>
              <a:rPr lang="zh-CN" altLang="en-US">
                <a:latin typeface="Roboto" panose="02000000000000000000" pitchFamily="2" charset="0"/>
              </a:rPr>
              <a:t>为数不多人性化的地方就是会把外设的参数表格给你，方便查看</a:t>
            </a:r>
            <a:r>
              <a:rPr lang="en-US" altLang="zh-CN">
                <a:latin typeface="Roboto" panose="020B0604020202020204" pitchFamily="2" charset="0"/>
              </a:rPr>
              <a:t>1.Sysconfig</a:t>
            </a:r>
            <a:r>
              <a:rPr lang="zh-CN" altLang="en-US">
                <a:latin typeface="Roboto" panose="020B0604020202020204" pitchFamily="2" charset="0"/>
              </a:rPr>
              <a:t>配置</a:t>
            </a:r>
            <a:endParaRPr lang="en-US" altLang="zh-CN"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E4A0BB1-59C6-9F08-5260-5DE7608FC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623" y="948838"/>
            <a:ext cx="4680378" cy="587316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9CFA196-4019-6106-8573-F4399819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2" y="4365158"/>
            <a:ext cx="7449004" cy="220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26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DDB71-4482-ADED-91F8-8B6490237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84C84CD-F999-8F3F-41F8-E0E5AFD9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en-US" altLang="zh-CN"/>
              <a:t>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214070-CB39-6A57-60A4-1F70B2458E86}"/>
              </a:ext>
            </a:extLst>
          </p:cNvPr>
          <p:cNvSpPr txBox="1"/>
          <p:nvPr/>
        </p:nvSpPr>
        <p:spPr>
          <a:xfrm>
            <a:off x="0" y="948838"/>
            <a:ext cx="1076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相关库函数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NVIC_EnableIRQ(TIMER_KEY_INST_INT_IRQN);//</a:t>
            </a:r>
            <a:r>
              <a:rPr lang="zh-CN" altLang="en-US">
                <a:latin typeface="Roboto" panose="020B0604020202020204" pitchFamily="2" charset="0"/>
              </a:rPr>
              <a:t>开启定时器中断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DL_Timer_startCounter(TIMER_KEY_INST);//</a:t>
            </a:r>
            <a:r>
              <a:rPr lang="zh-CN" altLang="en-US">
                <a:latin typeface="Roboto" panose="020B0604020202020204" pitchFamily="2" charset="0"/>
              </a:rPr>
              <a:t>启动定时器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定时器中断函数，这里需要判断零点事件标志位，不需要手动清除标志位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TIMER_KEY_INST_IRQHandler(void){   </a:t>
            </a:r>
          </a:p>
          <a:p>
            <a:r>
              <a:rPr lang="en-US" altLang="zh-CN">
                <a:latin typeface="Roboto" panose="020B0604020202020204" pitchFamily="2" charset="0"/>
              </a:rPr>
              <a:t>	 static uint16_t count=0;    </a:t>
            </a:r>
          </a:p>
          <a:p>
            <a:r>
              <a:rPr lang="en-US" altLang="zh-CN">
                <a:latin typeface="Roboto" panose="020B0604020202020204" pitchFamily="2" charset="0"/>
              </a:rPr>
              <a:t>	switch (DL_Timer_getPendingInterrupt(TIMER_KEY_INST)) {       </a:t>
            </a:r>
          </a:p>
          <a:p>
            <a:r>
              <a:rPr lang="en-US" altLang="zh-CN">
                <a:latin typeface="Roboto" panose="020B0604020202020204" pitchFamily="2" charset="0"/>
              </a:rPr>
              <a:t>		 case DL_TIMER_IIDX_ZERO:            break;        </a:t>
            </a:r>
          </a:p>
          <a:p>
            <a:r>
              <a:rPr lang="en-US" altLang="zh-CN">
                <a:latin typeface="Roboto" panose="020B0604020202020204" pitchFamily="2" charset="0"/>
              </a:rPr>
              <a:t>		 default:            break;   </a:t>
            </a:r>
          </a:p>
          <a:p>
            <a:r>
              <a:rPr lang="en-US" altLang="zh-CN">
                <a:latin typeface="Roboto" panose="020B0604020202020204" pitchFamily="2" charset="0"/>
              </a:rPr>
              <a:t>	 }</a:t>
            </a:r>
          </a:p>
          <a:p>
            <a:r>
              <a:rPr lang="en-US" altLang="zh-CN">
                <a:latin typeface="Roboto" panose="020B0604020202020204" pitchFamily="2" charset="0"/>
              </a:rPr>
              <a:t>    }</a:t>
            </a: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TIM</a:t>
            </a:r>
            <a:r>
              <a:rPr lang="zh-CN" altLang="en-US">
                <a:latin typeface="Roboto" panose="020B0604020202020204" pitchFamily="2" charset="0"/>
              </a:rPr>
              <a:t>的功能有很多，比如输入捕获，输出</a:t>
            </a:r>
            <a:r>
              <a:rPr lang="en-US" altLang="zh-CN">
                <a:latin typeface="Roboto" panose="020B0604020202020204" pitchFamily="2" charset="0"/>
              </a:rPr>
              <a:t>PWM</a:t>
            </a:r>
            <a:r>
              <a:rPr lang="zh-CN" altLang="en-US">
                <a:latin typeface="Roboto" panose="020B0604020202020204" pitchFamily="2" charset="0"/>
              </a:rPr>
              <a:t>，正交编码器计数等，但这些功能更偏向电机控制的应用，我们使用定时器一般只用到定时器中断和触发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或</a:t>
            </a:r>
            <a:r>
              <a:rPr lang="en-US" altLang="zh-CN">
                <a:latin typeface="Roboto" panose="020B0604020202020204" pitchFamily="2" charset="0"/>
              </a:rPr>
              <a:t>DAC</a:t>
            </a:r>
            <a:r>
              <a:rPr lang="zh-CN" altLang="en-US">
                <a:latin typeface="Roboto" panose="020B0604020202020204" pitchFamily="2" charset="0"/>
              </a:rPr>
              <a:t>的功能，其它功能有兴趣可以自学</a:t>
            </a:r>
            <a:endParaRPr lang="en-US" altLang="zh-CN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507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09DC-A698-166F-594A-7025AE0C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F7DFB02-8893-FA96-914A-7B167F63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ADC+DMA+TIM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8A3002-F65D-A907-D56F-A915FD0060FE}"/>
              </a:ext>
            </a:extLst>
          </p:cNvPr>
          <p:cNvSpPr txBox="1"/>
          <p:nvPr/>
        </p:nvSpPr>
        <p:spPr>
          <a:xfrm>
            <a:off x="0" y="948838"/>
            <a:ext cx="10764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1.Sysconfig</a:t>
            </a:r>
            <a:r>
              <a:rPr lang="zh-CN" altLang="en-US">
                <a:latin typeface="Roboto" panose="020B0604020202020204" pitchFamily="2" charset="0"/>
              </a:rPr>
              <a:t>配置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基础配置中，配置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的时钟与分频等，最高就是</a:t>
            </a:r>
            <a:r>
              <a:rPr lang="en-US" altLang="zh-CN">
                <a:latin typeface="Roboto" panose="020B0604020202020204" pitchFamily="2" charset="0"/>
              </a:rPr>
              <a:t>32M</a:t>
            </a:r>
            <a:r>
              <a:rPr lang="zh-CN" altLang="en-US">
                <a:latin typeface="Roboto" panose="020B0604020202020204" pitchFamily="2" charset="0"/>
              </a:rPr>
              <a:t>，一般选择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SYSOSC</a:t>
            </a:r>
            <a:r>
              <a:rPr lang="zh-CN" altLang="en-US">
                <a:latin typeface="Roboto" panose="020B0604020202020204" pitchFamily="2" charset="0"/>
              </a:rPr>
              <a:t>，手册中指出使用这个时钟，会简化一些转换的过程，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采样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用时最短。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采样模式配置中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Conversion Mode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: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选择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Single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，触发一次采样一次</a:t>
            </a:r>
            <a:endParaRPr lang="en-US" altLang="zh-CN" b="0" i="0">
              <a:effectLst/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Conversion Starting Address</a:t>
            </a:r>
            <a:r>
              <a:rPr lang="zh-CN" altLang="en-US">
                <a:latin typeface="Roboto" panose="020B0604020202020204" pitchFamily="2" charset="0"/>
              </a:rPr>
              <a:t>：一个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有</a:t>
            </a:r>
            <a:r>
              <a:rPr lang="en-US" altLang="zh-CN">
                <a:latin typeface="Roboto" panose="020B0604020202020204" pitchFamily="2" charset="0"/>
              </a:rPr>
              <a:t>12</a:t>
            </a:r>
            <a:r>
              <a:rPr lang="zh-CN" altLang="en-US">
                <a:latin typeface="Roboto" panose="020B0604020202020204" pitchFamily="2" charset="0"/>
              </a:rPr>
              <a:t>个结果寄存器，采样的结果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会顺序保存在</a:t>
            </a:r>
            <a:r>
              <a:rPr lang="en-US" altLang="zh-CN">
                <a:latin typeface="Roboto" panose="020B0604020202020204" pitchFamily="2" charset="0"/>
              </a:rPr>
              <a:t>12</a:t>
            </a:r>
            <a:r>
              <a:rPr lang="zh-CN" altLang="en-US">
                <a:latin typeface="Roboto" panose="020B0604020202020204" pitchFamily="2" charset="0"/>
              </a:rPr>
              <a:t>个寄存器中，这里保存的起始地址选择第</a:t>
            </a:r>
            <a:r>
              <a:rPr lang="en-US" altLang="zh-CN">
                <a:latin typeface="Roboto" panose="020B0604020202020204" pitchFamily="2" charset="0"/>
              </a:rPr>
              <a:t>0</a:t>
            </a:r>
            <a:r>
              <a:rPr lang="zh-CN" altLang="en-US">
                <a:latin typeface="Roboto" panose="020B0604020202020204" pitchFamily="2" charset="0"/>
              </a:rPr>
              <a:t>个寄存器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使能重复模式，否则只能采样一次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Sampling Mode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：选择自动模式，会帮你计算好每次采样转换时间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Trigger Source</a:t>
            </a:r>
            <a:r>
              <a:rPr lang="zh-CN" altLang="en-US">
                <a:latin typeface="Roboto" panose="02000000000000000000" pitchFamily="2" charset="0"/>
              </a:rPr>
              <a:t>：选择</a:t>
            </a:r>
            <a:r>
              <a:rPr lang="en-US" altLang="zh-CN">
                <a:latin typeface="Roboto" panose="02000000000000000000" pitchFamily="2" charset="0"/>
              </a:rPr>
              <a:t>event</a:t>
            </a:r>
            <a:r>
              <a:rPr lang="zh-CN" altLang="en-US">
                <a:latin typeface="Roboto" panose="02000000000000000000" pitchFamily="2" charset="0"/>
              </a:rPr>
              <a:t>，即为事件触发，和</a:t>
            </a:r>
            <a:r>
              <a:rPr lang="en-US" altLang="zh-CN">
                <a:latin typeface="Roboto" panose="02000000000000000000" pitchFamily="2" charset="0"/>
              </a:rPr>
              <a:t>ST</a:t>
            </a:r>
            <a:r>
              <a:rPr lang="zh-CN" altLang="en-US">
                <a:latin typeface="Roboto" panose="02000000000000000000" pitchFamily="2" charset="0"/>
              </a:rPr>
              <a:t>直接选择</a:t>
            </a:r>
            <a:r>
              <a:rPr lang="en-US" altLang="zh-CN">
                <a:latin typeface="Roboto" panose="02000000000000000000" pitchFamily="2" charset="0"/>
              </a:rPr>
              <a:t>TIM</a:t>
            </a:r>
            <a:r>
              <a:rPr lang="zh-CN" altLang="en-US">
                <a:latin typeface="Roboto" panose="02000000000000000000" pitchFamily="2" charset="0"/>
              </a:rPr>
              <a:t>触发不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同，</a:t>
            </a:r>
            <a:r>
              <a:rPr lang="en-US" altLang="zh-CN">
                <a:latin typeface="Roboto" panose="02000000000000000000" pitchFamily="2" charset="0"/>
              </a:rPr>
              <a:t>TI</a:t>
            </a:r>
            <a:r>
              <a:rPr lang="zh-CN" altLang="en-US">
                <a:latin typeface="Roboto" panose="02000000000000000000" pitchFamily="2" charset="0"/>
              </a:rPr>
              <a:t>把触发系统单独搞了个事件系统，后面会配置定时器的触发事件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ADC</a:t>
            </a:r>
            <a:r>
              <a:rPr lang="zh-CN" altLang="en-US">
                <a:latin typeface="Roboto" panose="02000000000000000000" pitchFamily="2" charset="0"/>
              </a:rPr>
              <a:t>转换内存配置中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选择</a:t>
            </a:r>
            <a:r>
              <a:rPr lang="en-US" altLang="zh-CN">
                <a:latin typeface="Roboto" panose="02000000000000000000" pitchFamily="2" charset="0"/>
              </a:rPr>
              <a:t>memery 0</a:t>
            </a:r>
            <a:r>
              <a:rPr lang="zh-CN" altLang="en-US">
                <a:latin typeface="Roboto" panose="02000000000000000000" pitchFamily="2" charset="0"/>
              </a:rPr>
              <a:t>，对应上面的转换开始地址</a:t>
            </a:r>
            <a:r>
              <a:rPr lang="en-US" altLang="zh-CN">
                <a:latin typeface="Roboto" panose="02000000000000000000" pitchFamily="2" charset="0"/>
              </a:rPr>
              <a:t>0</a:t>
            </a: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Input Channel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ADC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通道选择，对应不同引脚，根据需求选择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Reference Voltage</a:t>
            </a:r>
            <a:r>
              <a:rPr lang="zh-CN" altLang="en-US">
                <a:latin typeface="Roboto" panose="02000000000000000000" pitchFamily="2" charset="0"/>
              </a:rPr>
              <a:t>：偏置电压可以选择直接连到</a:t>
            </a:r>
            <a:r>
              <a:rPr lang="en-US" altLang="zh-CN">
                <a:latin typeface="Roboto" panose="02000000000000000000" pitchFamily="2" charset="0"/>
              </a:rPr>
              <a:t>VDDA</a:t>
            </a:r>
            <a:r>
              <a:rPr lang="zh-CN" altLang="en-US">
                <a:latin typeface="Roboto" panose="02000000000000000000" pitchFamily="2" charset="0"/>
              </a:rPr>
              <a:t>，也可以连到</a:t>
            </a:r>
            <a:r>
              <a:rPr lang="en-US" altLang="zh-CN">
                <a:latin typeface="Roboto" panose="02000000000000000000" pitchFamily="2" charset="0"/>
              </a:rPr>
              <a:t>VREF</a:t>
            </a:r>
          </a:p>
          <a:p>
            <a:r>
              <a:rPr lang="zh-CN" altLang="en-US">
                <a:latin typeface="Roboto" panose="02000000000000000000" pitchFamily="2" charset="0"/>
              </a:rPr>
              <a:t>如果选择</a:t>
            </a:r>
            <a:r>
              <a:rPr lang="en-US" altLang="zh-CN">
                <a:latin typeface="Roboto" panose="02000000000000000000" pitchFamily="2" charset="0"/>
              </a:rPr>
              <a:t>VREF</a:t>
            </a:r>
            <a:r>
              <a:rPr lang="zh-CN" altLang="en-US">
                <a:latin typeface="Roboto" panose="02000000000000000000" pitchFamily="2" charset="0"/>
              </a:rPr>
              <a:t>，需要对</a:t>
            </a:r>
            <a:r>
              <a:rPr lang="en-US" altLang="zh-CN">
                <a:latin typeface="Roboto" panose="02000000000000000000" pitchFamily="2" charset="0"/>
              </a:rPr>
              <a:t>VREF</a:t>
            </a:r>
            <a:r>
              <a:rPr lang="zh-CN" altLang="en-US">
                <a:latin typeface="Roboto" panose="02000000000000000000" pitchFamily="2" charset="0"/>
              </a:rPr>
              <a:t>外设进行单独配置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Sample Period Source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：两个采样定时器，一个频率高，一个频率低，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根据需求选择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Trigger Mode </a:t>
            </a:r>
            <a:r>
              <a:rPr lang="zh-CN" altLang="en-US">
                <a:latin typeface="Roboto" panose="02000000000000000000" pitchFamily="2" charset="0"/>
              </a:rPr>
              <a:t>：一定选择</a:t>
            </a:r>
            <a:r>
              <a:rPr lang="en-US" altLang="zh-CN">
                <a:latin typeface="Roboto" panose="02000000000000000000" pitchFamily="2" charset="0"/>
              </a:rPr>
              <a:t>Valid trigger will step to next memory </a:t>
            </a:r>
          </a:p>
          <a:p>
            <a:r>
              <a:rPr lang="en-US" altLang="zh-CN">
                <a:latin typeface="Roboto" panose="02000000000000000000" pitchFamily="2" charset="0"/>
              </a:rPr>
              <a:t>conversion register</a:t>
            </a:r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D7BB50-8CD6-8129-4AA7-49E09EF9B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605" y="851578"/>
            <a:ext cx="4667395" cy="597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00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EF1F8-D154-DA6B-A5CB-6AA5403E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33E662A-A8E6-B751-149B-35BD18BBC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ADC+DMA+TIM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11A38E-E5DF-F2BD-C1BE-1BEA1DDDBCC3}"/>
              </a:ext>
            </a:extLst>
          </p:cNvPr>
          <p:cNvSpPr txBox="1"/>
          <p:nvPr/>
        </p:nvSpPr>
        <p:spPr>
          <a:xfrm>
            <a:off x="0" y="948838"/>
            <a:ext cx="1076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1.Sysconfig</a:t>
            </a:r>
            <a:r>
              <a:rPr lang="zh-CN" altLang="en-US">
                <a:latin typeface="Roboto" panose="020B0604020202020204" pitchFamily="2" charset="0"/>
              </a:rPr>
              <a:t>配置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进阶配置，可以选择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的分辨率，采样模式等，这里要使能</a:t>
            </a:r>
            <a:r>
              <a:rPr lang="en-US" altLang="zh-CN">
                <a:latin typeface="Roboto" panose="020B0604020202020204" pitchFamily="2" charset="0"/>
              </a:rPr>
              <a:t>FIFO</a:t>
            </a:r>
            <a:r>
              <a:rPr lang="zh-CN" altLang="en-US">
                <a:latin typeface="Roboto" panose="020B0604020202020204" pitchFamily="2" charset="0"/>
              </a:rPr>
              <a:t>模式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单次最大转换时间对应的转换频率它会帮你计算出来，使用</a:t>
            </a:r>
            <a:r>
              <a:rPr lang="en-US" altLang="zh-CN">
                <a:latin typeface="Roboto" panose="020B0604020202020204" pitchFamily="2" charset="0"/>
              </a:rPr>
              <a:t>TIM</a:t>
            </a:r>
            <a:r>
              <a:rPr lang="zh-CN" altLang="en-US">
                <a:latin typeface="Roboto" panose="020B0604020202020204" pitchFamily="2" charset="0"/>
              </a:rPr>
              <a:t>触发频率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要小于这个值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中断配置选择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完成中断，配置合适优先级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配置中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DMA Samples Count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：选择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6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，这里指</a:t>
            </a:r>
            <a:r>
              <a:rPr lang="en-US" altLang="zh-CN" b="0" i="0">
                <a:effectLst/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转换的</a:t>
            </a:r>
            <a:r>
              <a:rPr lang="en-US" altLang="zh-CN">
                <a:latin typeface="Roboto" panose="020B0604020202020204" pitchFamily="2" charset="0"/>
              </a:rPr>
              <a:t>6</a:t>
            </a:r>
            <a:r>
              <a:rPr lang="zh-CN" altLang="en-US">
                <a:latin typeface="Roboto" panose="020B0604020202020204" pitchFamily="2" charset="0"/>
              </a:rPr>
              <a:t>次结果触发一次</a:t>
            </a:r>
            <a:r>
              <a:rPr lang="en-US" altLang="zh-CN">
                <a:latin typeface="Roboto" panose="020B0604020202020204" pitchFamily="2" charset="0"/>
              </a:rPr>
              <a:t>DMA</a:t>
            </a:r>
          </a:p>
          <a:p>
            <a:r>
              <a:rPr lang="zh-CN" altLang="en-US">
                <a:latin typeface="Roboto" panose="020B0604020202020204" pitchFamily="2" charset="0"/>
              </a:rPr>
              <a:t>传输，因为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传输是</a:t>
            </a:r>
            <a:r>
              <a:rPr lang="en-US" altLang="zh-CN">
                <a:latin typeface="Roboto" panose="020B0604020202020204" pitchFamily="2" charset="0"/>
              </a:rPr>
              <a:t>32</a:t>
            </a:r>
            <a:r>
              <a:rPr lang="zh-CN" altLang="en-US">
                <a:latin typeface="Roboto" panose="020B0604020202020204" pitchFamily="2" charset="0"/>
              </a:rPr>
              <a:t>位的数据，而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的结果是个</a:t>
            </a:r>
            <a:r>
              <a:rPr lang="en-US" altLang="zh-CN">
                <a:latin typeface="Roboto" panose="020B0604020202020204" pitchFamily="2" charset="0"/>
              </a:rPr>
              <a:t>16</a:t>
            </a:r>
            <a:r>
              <a:rPr lang="zh-CN" altLang="en-US">
                <a:latin typeface="Roboto" panose="020B0604020202020204" pitchFamily="2" charset="0"/>
              </a:rPr>
              <a:t>位数据，所以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两个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的结果填满一个</a:t>
            </a:r>
            <a:r>
              <a:rPr lang="en-US" altLang="zh-CN">
                <a:latin typeface="Roboto" panose="020B0604020202020204" pitchFamily="2" charset="0"/>
              </a:rPr>
              <a:t>32</a:t>
            </a:r>
            <a:r>
              <a:rPr lang="zh-CN" altLang="en-US">
                <a:latin typeface="Roboto" panose="020B0604020202020204" pitchFamily="2" charset="0"/>
              </a:rPr>
              <a:t>位数据，一共</a:t>
            </a:r>
            <a:r>
              <a:rPr lang="en-US" altLang="zh-CN">
                <a:latin typeface="Roboto" panose="020B0604020202020204" pitchFamily="2" charset="0"/>
              </a:rPr>
              <a:t>12</a:t>
            </a:r>
            <a:r>
              <a:rPr lang="zh-CN" altLang="en-US">
                <a:latin typeface="Roboto" panose="020B0604020202020204" pitchFamily="2" charset="0"/>
              </a:rPr>
              <a:t>个结果寄存器，所以要每</a:t>
            </a:r>
            <a:r>
              <a:rPr lang="en-US" altLang="zh-CN">
                <a:latin typeface="Roboto" panose="020B0604020202020204" pitchFamily="2" charset="0"/>
              </a:rPr>
              <a:t>6</a:t>
            </a:r>
            <a:r>
              <a:rPr lang="zh-CN" altLang="en-US">
                <a:latin typeface="Roboto" panose="020B0604020202020204" pitchFamily="2" charset="0"/>
              </a:rPr>
              <a:t>次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触发一次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传输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Enable DMA Triggers </a:t>
            </a:r>
            <a:r>
              <a:rPr lang="zh-CN" altLang="en-US" b="0" i="0">
                <a:effectLst/>
                <a:latin typeface="Roboto" panose="020B0604020202020204" pitchFamily="2" charset="0"/>
              </a:rPr>
              <a:t>：选择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MEM11 result loaded interrupt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，从第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0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个寄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存器开始保存结果，转换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12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次到第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11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个寄存器为一轮，触发一次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DMA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搬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 b="0" i="0">
                <a:effectLst/>
                <a:latin typeface="Roboto" panose="02000000000000000000" pitchFamily="2" charset="0"/>
              </a:rPr>
              <a:t>运数据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其它配置严格按照图中的配置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最后在</a:t>
            </a:r>
            <a:r>
              <a:rPr lang="en-US" altLang="zh-CN">
                <a:latin typeface="Roboto" panose="02000000000000000000" pitchFamily="2" charset="0"/>
              </a:rPr>
              <a:t>PinMux</a:t>
            </a:r>
            <a:r>
              <a:rPr lang="zh-CN" altLang="en-US">
                <a:latin typeface="Roboto" panose="02000000000000000000" pitchFamily="2" charset="0"/>
              </a:rPr>
              <a:t>中选择具体的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通道和</a:t>
            </a:r>
            <a:r>
              <a:rPr lang="en-US" altLang="zh-CN">
                <a:latin typeface="Roboto" panose="02000000000000000000" pitchFamily="2" charset="0"/>
              </a:rPr>
              <a:t>ADC</a:t>
            </a:r>
            <a:r>
              <a:rPr lang="zh-CN" altLang="en-US">
                <a:latin typeface="Roboto" panose="02000000000000000000" pitchFamily="2" charset="0"/>
              </a:rPr>
              <a:t>外设</a:t>
            </a:r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5FE6CD-48CF-0EDC-C8C2-D924F9D54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863" y="886478"/>
            <a:ext cx="4758137" cy="594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2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A00E4-F263-DE76-1B70-C2CABA1A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80628C-DEED-8B8A-1E79-CA618A56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ADC+DMA+TIM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5C0585-2783-FECB-CEDB-09D96E03B82D}"/>
              </a:ext>
            </a:extLst>
          </p:cNvPr>
          <p:cNvSpPr txBox="1"/>
          <p:nvPr/>
        </p:nvSpPr>
        <p:spPr>
          <a:xfrm>
            <a:off x="0" y="948838"/>
            <a:ext cx="1076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1.Sysconfig</a:t>
            </a:r>
            <a:r>
              <a:rPr lang="zh-CN" altLang="en-US">
                <a:latin typeface="Roboto" panose="020B0604020202020204" pitchFamily="2" charset="0"/>
              </a:rPr>
              <a:t>配置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配置</a:t>
            </a:r>
            <a:r>
              <a:rPr lang="en-US" altLang="zh-CN">
                <a:latin typeface="Roboto" panose="020B0604020202020204" pitchFamily="2" charset="0"/>
              </a:rPr>
              <a:t>TIM</a:t>
            </a:r>
            <a:r>
              <a:rPr lang="zh-CN" altLang="en-US">
                <a:latin typeface="Roboto" panose="020B0604020202020204" pitchFamily="2" charset="0"/>
              </a:rPr>
              <a:t>触发</a:t>
            </a:r>
            <a:r>
              <a:rPr lang="en-US" altLang="zh-CN">
                <a:latin typeface="Roboto" panose="020B0604020202020204" pitchFamily="2" charset="0"/>
              </a:rPr>
              <a:t>ADC</a:t>
            </a:r>
          </a:p>
          <a:p>
            <a:r>
              <a:rPr lang="zh-CN" altLang="en-US">
                <a:latin typeface="Roboto" panose="020B0604020202020204" pitchFamily="2" charset="0"/>
              </a:rPr>
              <a:t>首先在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的事件配置选项中，选择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Event Subscriber Channel ID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，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是被触发的外设，所以是事件的订阅者，这里选择事件订阅通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道号，随便选一个即可，事件发布者和使能事件不用配置。</a:t>
            </a:r>
            <a:endParaRPr lang="en-US" altLang="zh-CN">
              <a:latin typeface="Roboto" panose="020B0604020202020204" pitchFamily="2" charset="0"/>
            </a:endParaRPr>
          </a:p>
          <a:p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然后随便配置一个定时器，设置好定时器的频率，触发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用的定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时器可以不用开中断。在事件配置中，选择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Event 1 Publisher </a:t>
            </a:r>
          </a:p>
          <a:p>
            <a:r>
              <a:rPr lang="en-US" altLang="zh-CN" b="0" i="0">
                <a:effectLst/>
                <a:latin typeface="Roboto" panose="02000000000000000000" pitchFamily="2" charset="0"/>
              </a:rPr>
              <a:t>Channel ID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，定时器作为事件的发布者，在选项里选择之前的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en-US" altLang="zh-CN">
                <a:latin typeface="Roboto" panose="02000000000000000000" pitchFamily="2" charset="0"/>
              </a:rPr>
              <a:t>ADC</a:t>
            </a:r>
            <a:r>
              <a:rPr lang="zh-CN" altLang="en-US">
                <a:latin typeface="Roboto" panose="02000000000000000000" pitchFamily="2" charset="0"/>
              </a:rPr>
              <a:t>事件，这两个外设就通过事件关联起来了，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fr-FR" altLang="zh-CN" b="0" i="0">
                <a:effectLst/>
                <a:latin typeface="Roboto" panose="02000000000000000000" pitchFamily="2" charset="0"/>
              </a:rPr>
              <a:t>Event 1 Enable Controller Interrupts 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：选择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0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点事件，就是触发时机</a:t>
            </a:r>
            <a:endParaRPr lang="en-US" altLang="zh-CN" b="0" i="0">
              <a:effectLst/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如果想要双</a:t>
            </a:r>
            <a:r>
              <a:rPr lang="en-US" altLang="zh-CN">
                <a:latin typeface="Roboto" panose="02000000000000000000" pitchFamily="2" charset="0"/>
              </a:rPr>
              <a:t>ADC</a:t>
            </a:r>
            <a:r>
              <a:rPr lang="zh-CN" altLang="en-US">
                <a:latin typeface="Roboto" panose="02000000000000000000" pitchFamily="2" charset="0"/>
              </a:rPr>
              <a:t>同步采样，可以在这个定时器下设置第二个事件</a:t>
            </a:r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发布者，关联到另一个</a:t>
            </a:r>
            <a:r>
              <a:rPr lang="en-US" altLang="zh-CN">
                <a:latin typeface="Roboto" panose="02000000000000000000" pitchFamily="2" charset="0"/>
              </a:rPr>
              <a:t>ADC</a:t>
            </a:r>
          </a:p>
          <a:p>
            <a:endParaRPr lang="en-US" altLang="zh-CN">
              <a:latin typeface="Roboto" panose="02000000000000000000" pitchFamily="2" charset="0"/>
            </a:endParaRPr>
          </a:p>
          <a:p>
            <a:r>
              <a:rPr lang="zh-CN" altLang="en-US">
                <a:latin typeface="Roboto" panose="02000000000000000000" pitchFamily="2" charset="0"/>
              </a:rPr>
              <a:t>至此，使用</a:t>
            </a:r>
            <a:r>
              <a:rPr lang="en-US" altLang="zh-CN">
                <a:latin typeface="Roboto" panose="02000000000000000000" pitchFamily="2" charset="0"/>
              </a:rPr>
              <a:t>TIM</a:t>
            </a:r>
            <a:r>
              <a:rPr lang="zh-CN" altLang="en-US">
                <a:latin typeface="Roboto" panose="02000000000000000000" pitchFamily="2" charset="0"/>
              </a:rPr>
              <a:t>触发</a:t>
            </a:r>
            <a:r>
              <a:rPr lang="en-US" altLang="zh-CN">
                <a:latin typeface="Roboto" panose="02000000000000000000" pitchFamily="2" charset="0"/>
              </a:rPr>
              <a:t>ADC</a:t>
            </a:r>
            <a:r>
              <a:rPr lang="zh-CN" altLang="en-US">
                <a:latin typeface="Roboto" panose="02000000000000000000" pitchFamily="2" charset="0"/>
              </a:rPr>
              <a:t>的</a:t>
            </a:r>
            <a:r>
              <a:rPr lang="en-US" altLang="zh-CN">
                <a:latin typeface="Roboto" panose="02000000000000000000" pitchFamily="2" charset="0"/>
              </a:rPr>
              <a:t>DMA</a:t>
            </a:r>
            <a:r>
              <a:rPr lang="zh-CN" altLang="en-US">
                <a:latin typeface="Roboto" panose="02000000000000000000" pitchFamily="2" charset="0"/>
              </a:rPr>
              <a:t>采样配置完成</a:t>
            </a:r>
            <a:endParaRPr lang="en-US" altLang="zh-CN">
              <a:latin typeface="Roboto" panose="020B0604020202020204" pitchFamily="2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EA9F39D-C184-C218-B4AB-3A4F9493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513" y="899976"/>
            <a:ext cx="5421487" cy="15849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04A70D-B43B-AD45-A9BB-3A20F2387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513" y="3934237"/>
            <a:ext cx="5421487" cy="126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1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8C9D-25A5-24A7-EB2B-83EABEFD3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283B0C6-B540-DCA1-7484-E8F545EE7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ADC+DMA+TIM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4C7B61-AD1E-5092-0CC7-BFA170C315D6}"/>
              </a:ext>
            </a:extLst>
          </p:cNvPr>
          <p:cNvSpPr txBox="1"/>
          <p:nvPr/>
        </p:nvSpPr>
        <p:spPr>
          <a:xfrm>
            <a:off x="0" y="948838"/>
            <a:ext cx="1076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相关库函数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NVIC_EnableIRQ(ADC_U_INST_INT_IRQN);//</a:t>
            </a:r>
            <a:r>
              <a:rPr lang="zh-CN" altLang="en-US">
                <a:latin typeface="Roboto" panose="020B0604020202020204" pitchFamily="2" charset="0"/>
              </a:rPr>
              <a:t>使能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的中断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zh-CN" altLang="en-US">
                <a:latin typeface="Roboto" panose="020B0604020202020204" pitchFamily="2" charset="0"/>
              </a:rPr>
              <a:t>配置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通道，然后启动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采样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ADC_U_Start(){    </a:t>
            </a:r>
          </a:p>
          <a:p>
            <a:r>
              <a:rPr lang="en-US" altLang="zh-CN">
                <a:latin typeface="Roboto" panose="020B0604020202020204" pitchFamily="2" charset="0"/>
              </a:rPr>
              <a:t>	DMAConfig(DMA_ADC_U_CHAN_ID,(uint32_t) DL_ADC12_getFIFOAddress(ADC_U_INST),                		(uint32_t) &amp;ADC_U.SamplesData[0],ADC_FIFO_SAMPLES);                	DL_ADC12_startConversion(ADC_U_INST);</a:t>
            </a:r>
          </a:p>
          <a:p>
            <a:r>
              <a:rPr lang="en-US" altLang="zh-CN">
                <a:latin typeface="Roboto" panose="020B0604020202020204" pitchFamily="2" charset="0"/>
              </a:rPr>
              <a:t>}</a:t>
            </a:r>
          </a:p>
          <a:p>
            <a:r>
              <a:rPr lang="zh-CN" altLang="en-US">
                <a:latin typeface="Roboto" panose="020B0604020202020204" pitchFamily="2" charset="0"/>
              </a:rPr>
              <a:t>参数分别为：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通道编号，传输源地址，传输目标地址，传输长度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DMAConfig(uint8_t channelNum, uint32_t srcAddr,uint32_t destAddr,uint16_t size)</a:t>
            </a:r>
          </a:p>
          <a:p>
            <a:r>
              <a:rPr lang="en-US" altLang="zh-CN">
                <a:latin typeface="Roboto" panose="020B0604020202020204" pitchFamily="2" charset="0"/>
              </a:rPr>
              <a:t>{</a:t>
            </a:r>
          </a:p>
          <a:p>
            <a:r>
              <a:rPr lang="en-US" altLang="zh-CN">
                <a:latin typeface="Roboto" panose="020B0604020202020204" pitchFamily="2" charset="0"/>
              </a:rPr>
              <a:t>    DL_DMA_setSrcAddr(DMA, channelNum, srcAddr);</a:t>
            </a:r>
          </a:p>
          <a:p>
            <a:r>
              <a:rPr lang="en-US" altLang="zh-CN">
                <a:latin typeface="Roboto" panose="020B0604020202020204" pitchFamily="2" charset="0"/>
              </a:rPr>
              <a:t>    DL_DMA_setDestAddr(DMA, channelNum, destAddr);</a:t>
            </a:r>
          </a:p>
          <a:p>
            <a:r>
              <a:rPr lang="en-US" altLang="zh-CN">
                <a:latin typeface="Roboto" panose="020B0604020202020204" pitchFamily="2" charset="0"/>
              </a:rPr>
              <a:t>    DL_DMA_setTransferSize(DMA,channelNum, size);</a:t>
            </a:r>
          </a:p>
          <a:p>
            <a:r>
              <a:rPr lang="en-US" altLang="zh-CN">
                <a:latin typeface="Roboto" panose="020B0604020202020204" pitchFamily="2" charset="0"/>
              </a:rPr>
              <a:t>    DL_DMA_enableChannel(DMA, channelNum);</a:t>
            </a:r>
          </a:p>
          <a:p>
            <a:r>
              <a:rPr lang="en-US" altLang="zh-CN">
                <a:latin typeface="Roboto" panose="020B0604020202020204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18175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EF99A-5D8F-78E1-6E46-3039AAB6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E09F6BA-2024-4F81-7A34-6A1A0F30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ADC+DMA+TIM</a:t>
            </a:r>
            <a:r>
              <a:rPr lang="zh-CN" altLang="en-US"/>
              <a:t>教程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1EF6D9-A2C6-B338-338A-D554DA158857}"/>
              </a:ext>
            </a:extLst>
          </p:cNvPr>
          <p:cNvSpPr txBox="1"/>
          <p:nvPr/>
        </p:nvSpPr>
        <p:spPr>
          <a:xfrm>
            <a:off x="0" y="948838"/>
            <a:ext cx="1076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Roboto" panose="020B0604020202020204" pitchFamily="2" charset="0"/>
              </a:rPr>
              <a:t>2.</a:t>
            </a:r>
            <a:r>
              <a:rPr lang="zh-CN" altLang="en-US">
                <a:latin typeface="Roboto" panose="020B0604020202020204" pitchFamily="2" charset="0"/>
              </a:rPr>
              <a:t>相关库函数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中断服务函数，这里判断的是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传输完成中断，必须要手动停止</a:t>
            </a:r>
            <a:r>
              <a:rPr lang="en-US" altLang="zh-CN">
                <a:latin typeface="Roboto" panose="020B0604020202020204" pitchFamily="2" charset="0"/>
              </a:rPr>
              <a:t>ADC</a:t>
            </a:r>
            <a:r>
              <a:rPr lang="zh-CN" altLang="en-US">
                <a:latin typeface="Roboto" panose="020B0604020202020204" pitchFamily="2" charset="0"/>
              </a:rPr>
              <a:t>，不然会一直转换</a:t>
            </a:r>
            <a:endParaRPr lang="en-US" altLang="zh-CN">
              <a:latin typeface="Roboto" panose="020B0604020202020204" pitchFamily="2" charset="0"/>
            </a:endParaRPr>
          </a:p>
          <a:p>
            <a:r>
              <a:rPr lang="en-US" altLang="zh-CN">
                <a:latin typeface="Roboto" panose="020B0604020202020204" pitchFamily="2" charset="0"/>
              </a:rPr>
              <a:t>void ADC_U_INST_IRQHandler(void)</a:t>
            </a:r>
          </a:p>
          <a:p>
            <a:r>
              <a:rPr lang="en-US" altLang="zh-CN">
                <a:latin typeface="Roboto" panose="020B0604020202020204" pitchFamily="2" charset="0"/>
              </a:rPr>
              <a:t>{    </a:t>
            </a:r>
          </a:p>
          <a:p>
            <a:r>
              <a:rPr lang="en-US" altLang="zh-CN">
                <a:latin typeface="Roboto" panose="020B0604020202020204" pitchFamily="2" charset="0"/>
              </a:rPr>
              <a:t>	switch (DL_ADC12_getPendingInterrupt(ADC_U_INST)) {        </a:t>
            </a:r>
          </a:p>
          <a:p>
            <a:r>
              <a:rPr lang="en-US" altLang="zh-CN">
                <a:latin typeface="Roboto" panose="020B0604020202020204" pitchFamily="2" charset="0"/>
              </a:rPr>
              <a:t>		case DL_ADC12_IIDX_DMA_DONE:  ADC_U.ADCFinish = true;            					DL_ADC12_stopConversion(ADC_U_INST);            </a:t>
            </a:r>
          </a:p>
          <a:p>
            <a:r>
              <a:rPr lang="en-US" altLang="zh-CN">
                <a:latin typeface="Roboto" panose="020B0604020202020204" pitchFamily="2" charset="0"/>
              </a:rPr>
              <a:t>		break;        </a:t>
            </a:r>
          </a:p>
          <a:p>
            <a:r>
              <a:rPr lang="en-US" altLang="zh-CN">
                <a:latin typeface="Roboto" panose="020B0604020202020204" pitchFamily="2" charset="0"/>
              </a:rPr>
              <a:t>		default:  break;    }</a:t>
            </a:r>
          </a:p>
          <a:p>
            <a:r>
              <a:rPr lang="en-US" altLang="zh-CN">
                <a:latin typeface="Roboto" panose="020B0604020202020204" pitchFamily="2" charset="0"/>
              </a:rPr>
              <a:t>}</a:t>
            </a:r>
          </a:p>
          <a:p>
            <a:r>
              <a:rPr lang="zh-CN" altLang="en-US">
                <a:latin typeface="Roboto" panose="020B0604020202020204" pitchFamily="2" charset="0"/>
              </a:rPr>
              <a:t>注意，一次</a:t>
            </a:r>
            <a:r>
              <a:rPr lang="en-US" altLang="zh-CN">
                <a:latin typeface="Roboto" panose="020B0604020202020204" pitchFamily="2" charset="0"/>
              </a:rPr>
              <a:t>DMA</a:t>
            </a:r>
            <a:r>
              <a:rPr lang="zh-CN" altLang="en-US">
                <a:latin typeface="Roboto" panose="020B0604020202020204" pitchFamily="2" charset="0"/>
              </a:rPr>
              <a:t>传输长度必须是</a:t>
            </a:r>
            <a:r>
              <a:rPr lang="en-US" altLang="zh-CN">
                <a:latin typeface="Roboto" panose="020B0604020202020204" pitchFamily="2" charset="0"/>
              </a:rPr>
              <a:t>12</a:t>
            </a:r>
            <a:r>
              <a:rPr lang="zh-CN" altLang="en-US">
                <a:latin typeface="Roboto" panose="020B0604020202020204" pitchFamily="2" charset="0"/>
              </a:rPr>
              <a:t>的整数倍，否则会串数据</a:t>
            </a:r>
            <a:endParaRPr lang="en-US" altLang="zh-CN">
              <a:latin typeface="Roboto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76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FE9B5-9335-DF0A-DC5C-55A4D59D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D7F32F8-06FD-64E9-6563-63CA9686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五、课后练习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C08C124-D728-4EF1-8C14-346008397A2E}"/>
              </a:ext>
            </a:extLst>
          </p:cNvPr>
          <p:cNvSpPr txBox="1"/>
          <p:nvPr/>
        </p:nvSpPr>
        <p:spPr>
          <a:xfrm>
            <a:off x="424800" y="1317600"/>
            <a:ext cx="111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软件：</a:t>
            </a:r>
            <a:endParaRPr lang="en-US" altLang="zh-CN" dirty="0"/>
          </a:p>
          <a:p>
            <a:r>
              <a:rPr lang="en-US" altLang="zh-CN"/>
              <a:t>1.</a:t>
            </a:r>
            <a:r>
              <a:rPr lang="zh-CN" altLang="en-US"/>
              <a:t>使用按键启动</a:t>
            </a:r>
            <a:r>
              <a:rPr lang="en-US" altLang="zh-CN"/>
              <a:t>1Mhz</a:t>
            </a:r>
            <a:r>
              <a:rPr lang="zh-CN" altLang="en-US"/>
              <a:t>的双</a:t>
            </a:r>
            <a:r>
              <a:rPr lang="en-US" altLang="zh-CN"/>
              <a:t>ADC</a:t>
            </a:r>
            <a:r>
              <a:rPr lang="zh-CN" altLang="en-US"/>
              <a:t>采样，将采样结果打印到</a:t>
            </a:r>
            <a:r>
              <a:rPr lang="en-US" altLang="zh-CN"/>
              <a:t>vofa</a:t>
            </a:r>
            <a:r>
              <a:rPr lang="zh-CN" altLang="en-US"/>
              <a:t>上</a:t>
            </a:r>
            <a:endParaRPr lang="en-US" altLang="zh-CN"/>
          </a:p>
          <a:p>
            <a:r>
              <a:rPr lang="zh-CN" altLang="en-US"/>
              <a:t>硬件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/>
              <a:t>使用</a:t>
            </a:r>
            <a:r>
              <a:rPr lang="en-US" altLang="zh-CN" b="0" i="0">
                <a:effectLst/>
                <a:latin typeface="Roboto" panose="02000000000000000000" pitchFamily="2" charset="0"/>
              </a:rPr>
              <a:t>LMH6503</a:t>
            </a:r>
            <a:r>
              <a:rPr lang="zh-CN" altLang="en-US" b="0" i="0">
                <a:effectLst/>
                <a:latin typeface="Roboto" panose="02000000000000000000" pitchFamily="2" charset="0"/>
              </a:rPr>
              <a:t>制作一个压控增益运放模块</a:t>
            </a:r>
            <a:endParaRPr lang="en-US" altLang="zh-CN" b="0" i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007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2745</TotalTime>
  <Words>2069</Words>
  <Application>Microsoft Office PowerPoint</Application>
  <PresentationFormat>宽屏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仿宋</vt:lpstr>
      <vt:lpstr>微软雅黑</vt:lpstr>
      <vt:lpstr>Arial</vt:lpstr>
      <vt:lpstr>Calibri</vt:lpstr>
      <vt:lpstr>Calibri Light</vt:lpstr>
      <vt:lpstr>Roboto</vt:lpstr>
      <vt:lpstr>Times New Roman</vt:lpstr>
      <vt:lpstr>Office 主题</vt:lpstr>
      <vt:lpstr>PowerPoint 演示文稿</vt:lpstr>
      <vt:lpstr>一、GPIO教程</vt:lpstr>
      <vt:lpstr>一、GPIO教程</vt:lpstr>
      <vt:lpstr>二、UART教程</vt:lpstr>
      <vt:lpstr>二、UART教程</vt:lpstr>
      <vt:lpstr>三、TIM教程</vt:lpstr>
      <vt:lpstr>三、TIM教程</vt:lpstr>
      <vt:lpstr>四、ADC+DMA+TIM教程</vt:lpstr>
      <vt:lpstr>四、ADC+DMA+TIM教程</vt:lpstr>
      <vt:lpstr>四、ADC+DMA+TIM教程</vt:lpstr>
      <vt:lpstr>四、ADC+DMA+TIM教程</vt:lpstr>
      <vt:lpstr>四、ADC+DMA+TIM教程</vt:lpstr>
      <vt:lpstr>五、课后练习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dengchunhua@hust.edu.cn</dc:creator>
  <cp:lastModifiedBy>mikoto misaka</cp:lastModifiedBy>
  <cp:revision>2335</cp:revision>
  <cp:lastPrinted>2021-11-17T07:39:00Z</cp:lastPrinted>
  <dcterms:created xsi:type="dcterms:W3CDTF">2017-01-03T09:21:00Z</dcterms:created>
  <dcterms:modified xsi:type="dcterms:W3CDTF">2025-03-12T07:17:49Z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2052-11.8.6.8556</vt:lpwstr>
  </property>
</Properties>
</file>